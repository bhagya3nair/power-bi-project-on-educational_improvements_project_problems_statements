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256" r:id="rId5"/>
    <p:sldId id="286" r:id="rId6"/>
    <p:sldId id="291" r:id="rId7"/>
    <p:sldId id="289" r:id="rId8"/>
    <p:sldId id="287" r:id="rId9"/>
    <p:sldId id="292" r:id="rId10"/>
    <p:sldId id="288" r:id="rId11"/>
    <p:sldId id="290" r:id="rId12"/>
    <p:sldId id="293" r:id="rId13"/>
    <p:sldId id="294" r:id="rId14"/>
    <p:sldId id="295" r:id="rId15"/>
    <p:sldId id="296" r:id="rId16"/>
    <p:sldId id="297" r:id="rId17"/>
    <p:sldId id="298" r:id="rId18"/>
    <p:sldId id="299" r:id="rId19"/>
    <p:sldId id="300" r:id="rId20"/>
    <p:sldId id="301" r:id="rId21"/>
    <p:sldId id="303" r:id="rId22"/>
    <p:sldId id="304" r:id="rId23"/>
    <p:sldId id="302" r:id="rId24"/>
    <p:sldId id="305" r:id="rId25"/>
    <p:sldId id="306" r:id="rId26"/>
    <p:sldId id="307" r:id="rId27"/>
    <p:sldId id="308" r:id="rId28"/>
    <p:sldId id="309" r:id="rId29"/>
    <p:sldId id="310" r:id="rId30"/>
    <p:sldId id="311" r:id="rId31"/>
    <p:sldId id="26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2026-03-12</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2026-03-12</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101088" y="1513840"/>
            <a:ext cx="9430512" cy="1127760"/>
          </a:xfrm>
        </p:spPr>
        <p:txBody>
          <a:bodyPr/>
          <a:lstStyle/>
          <a:p>
            <a:pPr algn="ctr"/>
            <a:r>
              <a:rPr lang="en-US" sz="4000" u="sng" dirty="0">
                <a:latin typeface="+mn-lt"/>
              </a:rPr>
              <a:t>Educational Improvements Project Problems Statements </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4480560" y="5425440"/>
            <a:ext cx="7284720" cy="731520"/>
          </a:xfrm>
        </p:spPr>
        <p:txBody>
          <a:bodyPr>
            <a:normAutofit/>
          </a:bodyPr>
          <a:lstStyle/>
          <a:p>
            <a:pPr marL="0" indent="0" algn="r">
              <a:buNone/>
            </a:pPr>
            <a:r>
              <a:rPr lang="en-US" sz="3200" b="1" dirty="0">
                <a:solidFill>
                  <a:schemeClr val="accent2"/>
                </a:solidFill>
                <a:ea typeface="Tahoma" panose="020B0604030504040204" pitchFamily="34" charset="0"/>
                <a:cs typeface="Tahoma" panose="020B0604030504040204" pitchFamily="34" charset="0"/>
              </a:rPr>
              <a:t>Project</a:t>
            </a:r>
            <a:r>
              <a:rPr lang="en-US" sz="3200" b="1" dirty="0"/>
              <a:t> </a:t>
            </a:r>
            <a:r>
              <a:rPr lang="en-US" sz="3200" b="1" dirty="0">
                <a:solidFill>
                  <a:schemeClr val="accent2"/>
                </a:solidFill>
                <a:ea typeface="Tahoma" panose="020B0604030504040204" pitchFamily="34" charset="0"/>
                <a:cs typeface="Tahoma" panose="020B0604030504040204" pitchFamily="34" charset="0"/>
              </a:rPr>
              <a:t>By -</a:t>
            </a:r>
            <a:r>
              <a:rPr lang="en-US" sz="3200" b="1" dirty="0"/>
              <a:t> </a:t>
            </a:r>
            <a:r>
              <a:rPr lang="en-US" sz="3200" b="1" u="sng" dirty="0">
                <a:solidFill>
                  <a:schemeClr val="accent2"/>
                </a:solidFill>
                <a:ea typeface="Tahoma" panose="020B0604030504040204" pitchFamily="34" charset="0"/>
                <a:cs typeface="Tahoma" panose="020B0604030504040204" pitchFamily="34" charset="0"/>
              </a:rPr>
              <a:t>Bhagyalaxmi</a:t>
            </a:r>
            <a:r>
              <a:rPr lang="en-US" sz="3200" b="1" u="sng" dirty="0"/>
              <a:t> </a:t>
            </a:r>
            <a:r>
              <a:rPr lang="en-US" sz="3200" b="1" u="sng" dirty="0">
                <a:solidFill>
                  <a:schemeClr val="accent2"/>
                </a:solidFill>
                <a:ea typeface="Tahoma" panose="020B0604030504040204" pitchFamily="34" charset="0"/>
                <a:cs typeface="Tahoma" panose="020B0604030504040204" pitchFamily="34" charset="0"/>
              </a:rPr>
              <a:t>Nair</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84E92-2225-7503-8FBA-90DD5BBE4BA7}"/>
              </a:ext>
            </a:extLst>
          </p:cNvPr>
          <p:cNvSpPr>
            <a:spLocks noGrp="1"/>
          </p:cNvSpPr>
          <p:nvPr>
            <p:ph type="ctrTitle"/>
          </p:nvPr>
        </p:nvSpPr>
        <p:spPr>
          <a:xfrm>
            <a:off x="3716528" y="274320"/>
            <a:ext cx="7077456" cy="1071880"/>
          </a:xfrm>
        </p:spPr>
        <p:txBody>
          <a:bodyPr/>
          <a:lstStyle/>
          <a:p>
            <a:pPr algn="ctr"/>
            <a:r>
              <a:rPr lang="en-US" sz="4000" dirty="0">
                <a:latin typeface="+mn-lt"/>
              </a:rPr>
              <a:t>Educational Improvements Data Analysis</a:t>
            </a:r>
          </a:p>
        </p:txBody>
      </p:sp>
      <p:sp>
        <p:nvSpPr>
          <p:cNvPr id="3" name="Subtitle 2">
            <a:extLst>
              <a:ext uri="{FF2B5EF4-FFF2-40B4-BE49-F238E27FC236}">
                <a16:creationId xmlns:a16="http://schemas.microsoft.com/office/drawing/2014/main" id="{36FACA38-4AC0-F4A0-CA1C-F74C2E019B4C}"/>
              </a:ext>
            </a:extLst>
          </p:cNvPr>
          <p:cNvSpPr>
            <a:spLocks noGrp="1"/>
          </p:cNvSpPr>
          <p:nvPr>
            <p:ph type="subTitle" idx="1"/>
          </p:nvPr>
        </p:nvSpPr>
        <p:spPr>
          <a:xfrm>
            <a:off x="2255520" y="1747520"/>
            <a:ext cx="9367520" cy="4632960"/>
          </a:xfrm>
        </p:spPr>
        <p:txBody>
          <a:bodyPr/>
          <a:lstStyle/>
          <a:p>
            <a:pPr marL="285750" indent="-285750">
              <a:buFont typeface="Wingdings" panose="05000000000000000000" pitchFamily="2" charset="2"/>
              <a:buChar char="Ø"/>
            </a:pPr>
            <a:r>
              <a:rPr lang="en-US" dirty="0"/>
              <a:t>Power BI Dashboard Project</a:t>
            </a:r>
          </a:p>
          <a:p>
            <a:pPr marL="285750" indent="-285750">
              <a:buFont typeface="Wingdings" panose="05000000000000000000" pitchFamily="2" charset="2"/>
              <a:buChar char="Ø"/>
            </a:pPr>
            <a:r>
              <a:rPr lang="en-US" dirty="0"/>
              <a:t>Analysis of factors influencing student performance </a:t>
            </a:r>
          </a:p>
          <a:p>
            <a:pPr marL="285750" indent="-285750">
              <a:buFont typeface="Wingdings" panose="05000000000000000000" pitchFamily="2" charset="2"/>
              <a:buChar char="Ø"/>
            </a:pPr>
            <a:r>
              <a:rPr lang="en-US" dirty="0"/>
              <a:t> Infrastructure, Attendance, Teachers, and Socio Economic Factors</a:t>
            </a:r>
          </a:p>
          <a:p>
            <a:pPr marL="285750" indent="-285750">
              <a:buFont typeface="Wingdings" panose="05000000000000000000" pitchFamily="2" charset="2"/>
              <a:buChar char="Ø"/>
            </a:pPr>
            <a:r>
              <a:rPr lang="en-US" dirty="0"/>
              <a:t>Power BI Data Analytics Project focused on understanding factors influencing student academic performance.</a:t>
            </a:r>
          </a:p>
          <a:p>
            <a:pPr marL="285750" indent="-285750">
              <a:buFont typeface="Wingdings" panose="05000000000000000000" pitchFamily="2" charset="2"/>
              <a:buChar char="Ø"/>
            </a:pPr>
            <a:r>
              <a:rPr lang="en-US" dirty="0"/>
              <a:t>This project uses multiple datasets including student performance, attendance, teacher workforce data, school infrastructure, and socio-economic background.</a:t>
            </a:r>
          </a:p>
          <a:p>
            <a:pPr marL="285750" indent="-285750">
              <a:buFont typeface="Wingdings" panose="05000000000000000000" pitchFamily="2" charset="2"/>
              <a:buChar char="Ø"/>
            </a:pPr>
            <a:r>
              <a:rPr lang="en-US" dirty="0"/>
              <a:t>The goal is to apply data analytics techniques to identify patterns, trends, and relationships affecting educational outcomes.</a:t>
            </a:r>
          </a:p>
          <a:p>
            <a:pPr marL="285750" indent="-285750">
              <a:buFont typeface="Wingdings" panose="05000000000000000000" pitchFamily="2" charset="2"/>
              <a:buChar char="Ø"/>
            </a:pPr>
            <a:r>
              <a:rPr lang="en-US" dirty="0"/>
              <a:t>The results help demonstrate how data-driven insights can support improvements in educational systems.</a:t>
            </a:r>
          </a:p>
        </p:txBody>
      </p:sp>
    </p:spTree>
    <p:extLst>
      <p:ext uri="{BB962C8B-B14F-4D97-AF65-F5344CB8AC3E}">
        <p14:creationId xmlns:p14="http://schemas.microsoft.com/office/powerpoint/2010/main" val="2366253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CA598E-EC1C-557E-4E8C-697E2F552D9A}"/>
              </a:ext>
            </a:extLst>
          </p:cNvPr>
          <p:cNvSpPr>
            <a:spLocks noGrp="1"/>
          </p:cNvSpPr>
          <p:nvPr>
            <p:ph type="body" idx="1"/>
          </p:nvPr>
        </p:nvSpPr>
        <p:spPr>
          <a:xfrm>
            <a:off x="283210" y="1554479"/>
            <a:ext cx="8373110" cy="4754879"/>
          </a:xfrm>
        </p:spPr>
        <p:txBody>
          <a:bodyPr>
            <a:normAutofit fontScale="47500" lnSpcReduction="20000"/>
          </a:bodyPr>
          <a:lstStyle/>
          <a:p>
            <a:r>
              <a:rPr lang="en-US" sz="2900" dirty="0">
                <a:latin typeface="Arial" panose="020B0604020202020204" pitchFamily="34" charset="0"/>
              </a:rPr>
              <a:t>This project analyzes educational data to understand the key factors influencing student academic performance. Using interactive dashboards developed in Microsoft Power BI Desktop, multiple datasets including student performance, attendance records, teacher workforce information, school infrastructure details, and socio-economic factors were examined.</a:t>
            </a:r>
          </a:p>
          <a:p>
            <a:r>
              <a:rPr lang="en-US" sz="2900" dirty="0">
                <a:latin typeface="Arial" panose="020B0604020202020204" pitchFamily="34" charset="0"/>
              </a:rPr>
              <a:t>The analysis reveals that most students achieve moderate academic performance, with the majority of scores falling between 60 and 80. Attendance was found to have the strongest relationship with student outcomes, with higher attendance levels associated with improved academic performance. School infrastructure, including internet access and library availability, also contributes to slightly better performance by providing students with additional learning resources.</a:t>
            </a:r>
          </a:p>
          <a:p>
            <a:r>
              <a:rPr lang="en-US" sz="2900" dirty="0">
                <a:latin typeface="Arial" panose="020B0604020202020204" pitchFamily="34" charset="0"/>
              </a:rPr>
              <a:t>Socio-economic factors such as family income and parental education level show moderate influence on student performance, suggesting that access to resources and home support may affect academic success. The analysis also indicates that the teaching workforce is generally experienced and well qualified, which helps maintain stable learning environments.</a:t>
            </a:r>
          </a:p>
          <a:p>
            <a:r>
              <a:rPr lang="en-US" sz="2900" dirty="0">
                <a:latin typeface="Arial" panose="020B0604020202020204" pitchFamily="34" charset="0"/>
              </a:rPr>
              <a:t>Overall, the findings highlight that student performance is influenced by multiple interconnected factors including attendance, infrastructure, and socio-economic background. The Power BI dashboards created in this project provide a comprehensive view of these relationships and demonstrate how data-driven insights can support improvements in educational systems.</a:t>
            </a:r>
          </a:p>
          <a:p>
            <a:endParaRPr lang="en-US" dirty="0"/>
          </a:p>
        </p:txBody>
      </p:sp>
      <p:sp>
        <p:nvSpPr>
          <p:cNvPr id="3" name="Slide Number Placeholder 2">
            <a:extLst>
              <a:ext uri="{FF2B5EF4-FFF2-40B4-BE49-F238E27FC236}">
                <a16:creationId xmlns:a16="http://schemas.microsoft.com/office/drawing/2014/main" id="{70104F8A-1FD4-10DC-F8FC-07B361FFFAE2}"/>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Title 3">
            <a:extLst>
              <a:ext uri="{FF2B5EF4-FFF2-40B4-BE49-F238E27FC236}">
                <a16:creationId xmlns:a16="http://schemas.microsoft.com/office/drawing/2014/main" id="{2EC79E19-0314-0842-E24D-525CF723D970}"/>
              </a:ext>
            </a:extLst>
          </p:cNvPr>
          <p:cNvSpPr>
            <a:spLocks noGrp="1"/>
          </p:cNvSpPr>
          <p:nvPr>
            <p:ph type="title"/>
          </p:nvPr>
        </p:nvSpPr>
        <p:spPr>
          <a:xfrm>
            <a:off x="1888744" y="548641"/>
            <a:ext cx="7781544" cy="619760"/>
          </a:xfrm>
        </p:spPr>
        <p:txBody>
          <a:bodyPr>
            <a:no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Executive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Summary</a:t>
            </a:r>
          </a:p>
        </p:txBody>
      </p:sp>
    </p:spTree>
    <p:extLst>
      <p:ext uri="{BB962C8B-B14F-4D97-AF65-F5344CB8AC3E}">
        <p14:creationId xmlns:p14="http://schemas.microsoft.com/office/powerpoint/2010/main" val="4200163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04FDDB-6F40-7037-E871-BED30A6F4889}"/>
              </a:ext>
            </a:extLst>
          </p:cNvPr>
          <p:cNvSpPr>
            <a:spLocks noGrp="1"/>
          </p:cNvSpPr>
          <p:nvPr>
            <p:ph type="body" idx="1"/>
          </p:nvPr>
        </p:nvSpPr>
        <p:spPr>
          <a:xfrm>
            <a:off x="303530" y="2265679"/>
            <a:ext cx="8312150" cy="3779521"/>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 Education systems generate large volumes of data related to students, teachers, and school environments.</a:t>
            </a:r>
          </a:p>
          <a:p>
            <a:pPr marL="285750" indent="-285750">
              <a:buFont typeface="Wingdings" panose="05000000000000000000" pitchFamily="2" charset="2"/>
              <a:buChar char="Ø"/>
            </a:pPr>
            <a:r>
              <a:rPr lang="en-US" sz="1800" dirty="0">
                <a:latin typeface="Arial" panose="020B0604020202020204" pitchFamily="34" charset="0"/>
              </a:rPr>
              <a:t>Analyzing this data helps identify strengths and weaknesses within the education system.</a:t>
            </a:r>
          </a:p>
          <a:p>
            <a:pPr marL="285750" indent="-285750">
              <a:buFont typeface="Wingdings" panose="05000000000000000000" pitchFamily="2" charset="2"/>
              <a:buChar char="Ø"/>
            </a:pPr>
            <a:r>
              <a:rPr lang="en-US" sz="1800" dirty="0">
                <a:latin typeface="Arial" panose="020B0604020202020204" pitchFamily="34" charset="0"/>
              </a:rPr>
              <a:t>By using data analytics tools such as Power BI, it becomes possible to visualize patterns and relationships within educational data.</a:t>
            </a:r>
          </a:p>
          <a:p>
            <a:pPr marL="285750" indent="-285750">
              <a:buFont typeface="Wingdings" panose="05000000000000000000" pitchFamily="2" charset="2"/>
              <a:buChar char="Ø"/>
            </a:pPr>
            <a:r>
              <a:rPr lang="en-US" sz="1800" dirty="0">
                <a:latin typeface="Arial" panose="020B0604020202020204" pitchFamily="34" charset="0"/>
              </a:rPr>
              <a:t>This project applies exploratory data analysis and visualization techniques to better understand educational outcomes.</a:t>
            </a:r>
          </a:p>
        </p:txBody>
      </p:sp>
      <p:sp>
        <p:nvSpPr>
          <p:cNvPr id="3" name="Slide Number Placeholder 2">
            <a:extLst>
              <a:ext uri="{FF2B5EF4-FFF2-40B4-BE49-F238E27FC236}">
                <a16:creationId xmlns:a16="http://schemas.microsoft.com/office/drawing/2014/main" id="{0F1544DA-49CA-C777-E664-FB403B18EF0C}"/>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4" name="Title 3">
            <a:extLst>
              <a:ext uri="{FF2B5EF4-FFF2-40B4-BE49-F238E27FC236}">
                <a16:creationId xmlns:a16="http://schemas.microsoft.com/office/drawing/2014/main" id="{8EACA388-E064-C334-9367-4A0C99A1F637}"/>
              </a:ext>
            </a:extLst>
          </p:cNvPr>
          <p:cNvSpPr>
            <a:spLocks noGrp="1"/>
          </p:cNvSpPr>
          <p:nvPr>
            <p:ph type="title"/>
          </p:nvPr>
        </p:nvSpPr>
        <p:spPr>
          <a:xfrm>
            <a:off x="1695704" y="635001"/>
            <a:ext cx="7781544" cy="655320"/>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Project</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Background</a:t>
            </a:r>
          </a:p>
        </p:txBody>
      </p:sp>
    </p:spTree>
    <p:extLst>
      <p:ext uri="{BB962C8B-B14F-4D97-AF65-F5344CB8AC3E}">
        <p14:creationId xmlns:p14="http://schemas.microsoft.com/office/powerpoint/2010/main" val="3530935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D56DA0-8CD2-B5F9-029D-7B7854737D18}"/>
              </a:ext>
            </a:extLst>
          </p:cNvPr>
          <p:cNvSpPr>
            <a:spLocks noGrp="1"/>
          </p:cNvSpPr>
          <p:nvPr>
            <p:ph type="body" idx="1"/>
          </p:nvPr>
        </p:nvSpPr>
        <p:spPr>
          <a:xfrm>
            <a:off x="405130" y="1930400"/>
            <a:ext cx="8210550" cy="446024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Analyze educational datasets to understand factors influencing student performance.</a:t>
            </a:r>
          </a:p>
          <a:p>
            <a:pPr marL="285750" indent="-285750">
              <a:buFont typeface="Wingdings" panose="05000000000000000000" pitchFamily="2" charset="2"/>
              <a:buChar char="Ø"/>
            </a:pPr>
            <a:r>
              <a:rPr lang="en-US" sz="1800" dirty="0">
                <a:latin typeface="Arial" panose="020B0604020202020204" pitchFamily="34" charset="0"/>
              </a:rPr>
              <a:t>Use Power BI for visualization and insights</a:t>
            </a:r>
          </a:p>
          <a:p>
            <a:pPr marL="285750" indent="-285750">
              <a:buFont typeface="Wingdings" panose="05000000000000000000" pitchFamily="2" charset="2"/>
              <a:buChar char="Ø"/>
            </a:pPr>
            <a:r>
              <a:rPr lang="en-US" sz="1800" dirty="0">
                <a:latin typeface="Arial" panose="020B0604020202020204" pitchFamily="34" charset="0"/>
              </a:rPr>
              <a:t>Identify patterns that influence academic outcomes</a:t>
            </a:r>
          </a:p>
          <a:p>
            <a:pPr marL="285750" indent="-285750">
              <a:buFont typeface="Wingdings" panose="05000000000000000000" pitchFamily="2" charset="2"/>
              <a:buChar char="Ø"/>
            </a:pPr>
            <a:r>
              <a:rPr lang="en-US" sz="1800" dirty="0">
                <a:latin typeface="Arial" panose="020B0604020202020204" pitchFamily="34" charset="0"/>
              </a:rPr>
              <a:t>Identify key factors that influence student academic performance.</a:t>
            </a:r>
          </a:p>
          <a:p>
            <a:pPr marL="285750" indent="-285750">
              <a:buFont typeface="Wingdings" panose="05000000000000000000" pitchFamily="2" charset="2"/>
              <a:buChar char="Ø"/>
            </a:pPr>
            <a:r>
              <a:rPr lang="en-US" sz="1800" dirty="0">
                <a:latin typeface="Arial" panose="020B0604020202020204" pitchFamily="34" charset="0"/>
              </a:rPr>
              <a:t>Explore relationships between attendance, infrastructure, socio-economic factors, and student scores.</a:t>
            </a:r>
          </a:p>
          <a:p>
            <a:pPr marL="285750" indent="-285750">
              <a:buFont typeface="Wingdings" panose="05000000000000000000" pitchFamily="2" charset="2"/>
              <a:buChar char="Ø"/>
            </a:pPr>
            <a:r>
              <a:rPr lang="en-US" sz="1800" dirty="0">
                <a:latin typeface="Arial" panose="020B0604020202020204" pitchFamily="34" charset="0"/>
              </a:rPr>
              <a:t>Use data visualization to communicate findings clearly.</a:t>
            </a:r>
          </a:p>
          <a:p>
            <a:pPr marL="285750" indent="-285750">
              <a:buFont typeface="Wingdings" panose="05000000000000000000" pitchFamily="2" charset="2"/>
              <a:buChar char="Ø"/>
            </a:pPr>
            <a:r>
              <a:rPr lang="en-US" sz="1800" dirty="0">
                <a:latin typeface="Arial" panose="020B0604020202020204" pitchFamily="34" charset="0"/>
              </a:rPr>
              <a:t>Provide insights and recommendations based on the analysis to support educational improvement initiatives.</a:t>
            </a:r>
          </a:p>
        </p:txBody>
      </p:sp>
      <p:sp>
        <p:nvSpPr>
          <p:cNvPr id="3" name="Slide Number Placeholder 2">
            <a:extLst>
              <a:ext uri="{FF2B5EF4-FFF2-40B4-BE49-F238E27FC236}">
                <a16:creationId xmlns:a16="http://schemas.microsoft.com/office/drawing/2014/main" id="{3DC9B18D-B769-C7A7-CB9E-68890CBBBC2B}"/>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Title 3">
            <a:extLst>
              <a:ext uri="{FF2B5EF4-FFF2-40B4-BE49-F238E27FC236}">
                <a16:creationId xmlns:a16="http://schemas.microsoft.com/office/drawing/2014/main" id="{163D1274-8868-2D7B-810F-156C3EA6AD43}"/>
              </a:ext>
            </a:extLst>
          </p:cNvPr>
          <p:cNvSpPr>
            <a:spLocks noGrp="1"/>
          </p:cNvSpPr>
          <p:nvPr>
            <p:ph type="title"/>
          </p:nvPr>
        </p:nvSpPr>
        <p:spPr>
          <a:xfrm>
            <a:off x="1939544" y="698501"/>
            <a:ext cx="7781544" cy="584200"/>
          </a:xfrm>
        </p:spPr>
        <p:txBody>
          <a:bodyPr>
            <a:no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Project</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Objective</a:t>
            </a:r>
          </a:p>
        </p:txBody>
      </p:sp>
    </p:spTree>
    <p:extLst>
      <p:ext uri="{BB962C8B-B14F-4D97-AF65-F5344CB8AC3E}">
        <p14:creationId xmlns:p14="http://schemas.microsoft.com/office/powerpoint/2010/main" val="4089197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8EC1E2-80D3-BEC8-DEE4-CA3D011EE554}"/>
              </a:ext>
            </a:extLst>
          </p:cNvPr>
          <p:cNvSpPr>
            <a:spLocks noGrp="1"/>
          </p:cNvSpPr>
          <p:nvPr>
            <p:ph type="body" idx="1"/>
          </p:nvPr>
        </p:nvSpPr>
        <p:spPr>
          <a:xfrm>
            <a:off x="415290" y="1757679"/>
            <a:ext cx="8088630" cy="4669155"/>
          </a:xfrm>
        </p:spPr>
        <p:txBody>
          <a:bodyPr>
            <a:normAutofit fontScale="85000" lnSpcReduction="20000"/>
          </a:bodyPr>
          <a:lstStyle/>
          <a:p>
            <a:r>
              <a:rPr lang="en-US" dirty="0">
                <a:latin typeface="Arial" panose="020B0604020202020204" pitchFamily="34" charset="0"/>
              </a:rPr>
              <a:t>This project analyzes educational data to understand the key factors influencing student academic performance. Using interactive dashboards developed in Microsoft Power BI Desktop, multiple datasets including student performance, attendance records, teacher workforce information, school infrastructure details, and socio-economic factors were examined.</a:t>
            </a:r>
          </a:p>
          <a:p>
            <a:r>
              <a:rPr lang="en-US" dirty="0">
                <a:latin typeface="Arial" panose="020B0604020202020204" pitchFamily="34" charset="0"/>
              </a:rPr>
              <a:t>The analysis reveals that most students achieve moderate academic performance, with the majority of scores falling between 60 and 80. Attendance was found to have the strongest relationship with student outcomes, with higher attendance levels associated with improved academic performance. School infrastructure, including internet access and library availability, also contributes to slightly better performance by providing students with additional learning resources.</a:t>
            </a:r>
          </a:p>
          <a:p>
            <a:r>
              <a:rPr lang="en-US" dirty="0">
                <a:latin typeface="Arial" panose="020B0604020202020204" pitchFamily="34" charset="0"/>
              </a:rPr>
              <a:t>Socio-economic factors such as family income and parental education level show moderate influence on student performance, suggesting that access to resources and home support may affect academic success. The analysis also indicates that the teaching workforce is generally experienced and well qualified, which helps maintain stable learning environments.</a:t>
            </a:r>
          </a:p>
          <a:p>
            <a:r>
              <a:rPr lang="en-US" dirty="0">
                <a:latin typeface="Arial" panose="020B0604020202020204" pitchFamily="34" charset="0"/>
              </a:rPr>
              <a:t>Overall, the findings highlight that student performance is influenced by multiple interconnected factors including attendance, infrastructure, and socio-economic background. The Power BI dashboards created in this project provide a comprehensive view of these relationships and demonstrate how data-driven insights can support improvements in educational systems.</a:t>
            </a:r>
          </a:p>
          <a:p>
            <a:endParaRPr lang="en-US" dirty="0">
              <a:latin typeface="Arial" panose="020B0604020202020204" pitchFamily="34" charset="0"/>
            </a:endParaRPr>
          </a:p>
        </p:txBody>
      </p:sp>
      <p:sp>
        <p:nvSpPr>
          <p:cNvPr id="3" name="Slide Number Placeholder 2">
            <a:extLst>
              <a:ext uri="{FF2B5EF4-FFF2-40B4-BE49-F238E27FC236}">
                <a16:creationId xmlns:a16="http://schemas.microsoft.com/office/drawing/2014/main" id="{4F5D089C-4A37-0FF2-D17A-1510870AFE3C}"/>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4" name="Title 3">
            <a:extLst>
              <a:ext uri="{FF2B5EF4-FFF2-40B4-BE49-F238E27FC236}">
                <a16:creationId xmlns:a16="http://schemas.microsoft.com/office/drawing/2014/main" id="{B2268920-2416-F1AF-9850-1897234245EB}"/>
              </a:ext>
            </a:extLst>
          </p:cNvPr>
          <p:cNvSpPr>
            <a:spLocks noGrp="1"/>
          </p:cNvSpPr>
          <p:nvPr>
            <p:ph type="title"/>
          </p:nvPr>
        </p:nvSpPr>
        <p:spPr>
          <a:xfrm>
            <a:off x="1787144" y="688341"/>
            <a:ext cx="7781544" cy="655320"/>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Overview</a:t>
            </a:r>
          </a:p>
        </p:txBody>
      </p:sp>
    </p:spTree>
    <p:extLst>
      <p:ext uri="{BB962C8B-B14F-4D97-AF65-F5344CB8AC3E}">
        <p14:creationId xmlns:p14="http://schemas.microsoft.com/office/powerpoint/2010/main" val="212954786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64A086-4D09-98B2-7B28-C58473C154D0}"/>
              </a:ext>
            </a:extLst>
          </p:cNvPr>
          <p:cNvSpPr>
            <a:spLocks noGrp="1"/>
          </p:cNvSpPr>
          <p:nvPr>
            <p:ph type="body" idx="1"/>
          </p:nvPr>
        </p:nvSpPr>
        <p:spPr>
          <a:xfrm>
            <a:off x="313690" y="2113815"/>
            <a:ext cx="8271510" cy="410464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Student Performance Data: Contains student test scores used to measure academic outcomes.</a:t>
            </a:r>
          </a:p>
          <a:p>
            <a:pPr marL="285750" indent="-285750">
              <a:buFont typeface="Wingdings" panose="05000000000000000000" pitchFamily="2" charset="2"/>
              <a:buChar char="Ø"/>
            </a:pPr>
            <a:r>
              <a:rPr lang="en-US" sz="1800" dirty="0">
                <a:latin typeface="Arial" panose="020B0604020202020204" pitchFamily="34" charset="0"/>
              </a:rPr>
              <a:t>Attendance Data: Includes attendance percentages representing how regularly students attend classes.</a:t>
            </a:r>
          </a:p>
          <a:p>
            <a:pPr marL="285750" indent="-285750">
              <a:buFont typeface="Wingdings" panose="05000000000000000000" pitchFamily="2" charset="2"/>
              <a:buChar char="Ø"/>
            </a:pPr>
            <a:r>
              <a:rPr lang="en-US" sz="1800" dirty="0">
                <a:latin typeface="Arial" panose="020B0604020202020204" pitchFamily="34" charset="0"/>
              </a:rPr>
              <a:t>Teacher Data: Contains information about teacher qualifications, training completion, and years of experience. </a:t>
            </a:r>
          </a:p>
          <a:p>
            <a:pPr marL="285750" indent="-285750">
              <a:buFont typeface="Wingdings" panose="05000000000000000000" pitchFamily="2" charset="2"/>
              <a:buChar char="Ø"/>
            </a:pPr>
            <a:r>
              <a:rPr lang="en-US" sz="1800" dirty="0">
                <a:latin typeface="Arial" panose="020B0604020202020204" pitchFamily="34" charset="0"/>
              </a:rPr>
              <a:t>School Infrastructure Data: Provides information about facilities such as internet access and libraries.</a:t>
            </a:r>
          </a:p>
          <a:p>
            <a:pPr marL="285750" indent="-285750">
              <a:buFont typeface="Wingdings" panose="05000000000000000000" pitchFamily="2" charset="2"/>
              <a:buChar char="Ø"/>
            </a:pPr>
            <a:r>
              <a:rPr lang="en-US" sz="1800" dirty="0">
                <a:latin typeface="Arial" panose="020B0604020202020204" pitchFamily="34" charset="0"/>
              </a:rPr>
              <a:t>Socio-Economic Data: Includes family income levels and parental education levels affecting student backgrounds.</a:t>
            </a:r>
          </a:p>
        </p:txBody>
      </p:sp>
      <p:sp>
        <p:nvSpPr>
          <p:cNvPr id="3" name="Slide Number Placeholder 2">
            <a:extLst>
              <a:ext uri="{FF2B5EF4-FFF2-40B4-BE49-F238E27FC236}">
                <a16:creationId xmlns:a16="http://schemas.microsoft.com/office/drawing/2014/main" id="{8F2346C0-D5CC-3AAE-FC0B-5DEC6DDDDB62}"/>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sp>
        <p:nvSpPr>
          <p:cNvPr id="4" name="Title 3">
            <a:extLst>
              <a:ext uri="{FF2B5EF4-FFF2-40B4-BE49-F238E27FC236}">
                <a16:creationId xmlns:a16="http://schemas.microsoft.com/office/drawing/2014/main" id="{FEC88DF3-A3BE-D6D5-B7BA-6D107D1A0F9E}"/>
              </a:ext>
            </a:extLst>
          </p:cNvPr>
          <p:cNvSpPr>
            <a:spLocks noGrp="1"/>
          </p:cNvSpPr>
          <p:nvPr>
            <p:ph type="title"/>
          </p:nvPr>
        </p:nvSpPr>
        <p:spPr>
          <a:xfrm>
            <a:off x="1797304" y="639545"/>
            <a:ext cx="7781544" cy="599975"/>
          </a:xfrm>
        </p:spPr>
        <p:txBody>
          <a:bodyPr>
            <a:no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Datasets</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Used</a:t>
            </a:r>
          </a:p>
        </p:txBody>
      </p:sp>
    </p:spTree>
    <p:extLst>
      <p:ext uri="{BB962C8B-B14F-4D97-AF65-F5344CB8AC3E}">
        <p14:creationId xmlns:p14="http://schemas.microsoft.com/office/powerpoint/2010/main" val="851787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DFDA86-C63B-BE3C-4AD8-E7FB9EE5C3A4}"/>
              </a:ext>
            </a:extLst>
          </p:cNvPr>
          <p:cNvSpPr>
            <a:spLocks noGrp="1"/>
          </p:cNvSpPr>
          <p:nvPr>
            <p:ph type="body" idx="1"/>
          </p:nvPr>
        </p:nvSpPr>
        <p:spPr>
          <a:xfrm>
            <a:off x="354330" y="2205357"/>
            <a:ext cx="8129270" cy="3281044"/>
          </a:xfrm>
        </p:spPr>
        <p:txBody>
          <a:bodyPr/>
          <a:lstStyle/>
          <a:p>
            <a:pPr marL="285750" indent="-285750">
              <a:buFont typeface="Wingdings" panose="05000000000000000000" pitchFamily="2" charset="2"/>
              <a:buChar char="Ø"/>
            </a:pPr>
            <a:r>
              <a:rPr lang="en-US" dirty="0"/>
              <a:t>Data cleaning was performed before analysis to ensure data quality.</a:t>
            </a:r>
          </a:p>
          <a:p>
            <a:pPr marL="285750" indent="-285750">
              <a:buFont typeface="Wingdings" panose="05000000000000000000" pitchFamily="2" charset="2"/>
              <a:buChar char="Ø"/>
            </a:pPr>
            <a:r>
              <a:rPr lang="en-US" dirty="0"/>
              <a:t>Duplicate records and blank rows were removed to avoid inaccurate results.</a:t>
            </a:r>
          </a:p>
          <a:p>
            <a:pPr marL="285750" indent="-285750">
              <a:buFont typeface="Wingdings" panose="05000000000000000000" pitchFamily="2" charset="2"/>
              <a:buChar char="Ø"/>
            </a:pPr>
            <a:r>
              <a:rPr lang="en-US" dirty="0"/>
              <a:t>Yes/No variables such as internet access and library availability were converted into numeric values (1 and 0).</a:t>
            </a:r>
          </a:p>
          <a:p>
            <a:pPr marL="285750" indent="-285750">
              <a:buFont typeface="Wingdings" panose="05000000000000000000" pitchFamily="2" charset="2"/>
              <a:buChar char="Ø"/>
            </a:pPr>
            <a:r>
              <a:rPr lang="en-US" dirty="0"/>
              <a:t> Columns were assigned appropriate data types such as numeric values for scores and attendance.</a:t>
            </a:r>
          </a:p>
          <a:p>
            <a:pPr marL="285750" indent="-285750">
              <a:buFont typeface="Wingdings" panose="05000000000000000000" pitchFamily="2" charset="2"/>
              <a:buChar char="Ø"/>
            </a:pPr>
            <a:r>
              <a:rPr lang="en-US" dirty="0"/>
              <a:t>These steps ensured the dataset was reliable for analysis.</a:t>
            </a:r>
          </a:p>
        </p:txBody>
      </p:sp>
      <p:sp>
        <p:nvSpPr>
          <p:cNvPr id="3" name="Slide Number Placeholder 2">
            <a:extLst>
              <a:ext uri="{FF2B5EF4-FFF2-40B4-BE49-F238E27FC236}">
                <a16:creationId xmlns:a16="http://schemas.microsoft.com/office/drawing/2014/main" id="{D68AC413-D695-5AC8-93E1-679CDCB77DFB}"/>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4" name="Title 3">
            <a:extLst>
              <a:ext uri="{FF2B5EF4-FFF2-40B4-BE49-F238E27FC236}">
                <a16:creationId xmlns:a16="http://schemas.microsoft.com/office/drawing/2014/main" id="{A38926A0-A604-550C-38BB-42990ABB4F6E}"/>
              </a:ext>
            </a:extLst>
          </p:cNvPr>
          <p:cNvSpPr>
            <a:spLocks noGrp="1"/>
          </p:cNvSpPr>
          <p:nvPr>
            <p:ph type="title"/>
          </p:nvPr>
        </p:nvSpPr>
        <p:spPr>
          <a:xfrm>
            <a:off x="1695704" y="685801"/>
            <a:ext cx="7781544" cy="685800"/>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Data</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Preparation</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Process</a:t>
            </a:r>
          </a:p>
        </p:txBody>
      </p:sp>
    </p:spTree>
    <p:extLst>
      <p:ext uri="{BB962C8B-B14F-4D97-AF65-F5344CB8AC3E}">
        <p14:creationId xmlns:p14="http://schemas.microsoft.com/office/powerpoint/2010/main" val="3474838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8922A2-082A-7376-2D04-F1BEE01F76D6}"/>
              </a:ext>
            </a:extLst>
          </p:cNvPr>
          <p:cNvSpPr>
            <a:spLocks noGrp="1"/>
          </p:cNvSpPr>
          <p:nvPr>
            <p:ph type="body" idx="1"/>
          </p:nvPr>
        </p:nvSpPr>
        <p:spPr>
          <a:xfrm>
            <a:off x="394970" y="1991359"/>
            <a:ext cx="8220710" cy="4049395"/>
          </a:xfrm>
        </p:spPr>
        <p:txBody>
          <a:bodyPr/>
          <a:lstStyle/>
          <a:p>
            <a:pPr marL="285750" indent="-285750">
              <a:buFont typeface="Wingdings" panose="05000000000000000000" pitchFamily="2" charset="2"/>
              <a:buChar char="Ø"/>
            </a:pPr>
            <a:r>
              <a:rPr lang="en-US" dirty="0"/>
              <a:t>A relational data model was created to connect multiple datasets within Power BI.</a:t>
            </a:r>
          </a:p>
          <a:p>
            <a:pPr marL="285750" indent="-285750">
              <a:buFont typeface="Wingdings" panose="05000000000000000000" pitchFamily="2" charset="2"/>
              <a:buChar char="Ø"/>
            </a:pPr>
            <a:r>
              <a:rPr lang="en-US" dirty="0"/>
              <a:t>Student Performance data was linked with Socio-Economic data using Student ID.</a:t>
            </a:r>
          </a:p>
          <a:p>
            <a:pPr marL="285750" indent="-285750">
              <a:buFont typeface="Wingdings" panose="05000000000000000000" pitchFamily="2" charset="2"/>
              <a:buChar char="Ø"/>
            </a:pPr>
            <a:r>
              <a:rPr lang="en-US" dirty="0"/>
              <a:t>Attendance data was also connected using Student ID. </a:t>
            </a:r>
          </a:p>
          <a:p>
            <a:pPr marL="285750" indent="-285750">
              <a:buFont typeface="Wingdings" panose="05000000000000000000" pitchFamily="2" charset="2"/>
              <a:buChar char="Ø"/>
            </a:pPr>
            <a:r>
              <a:rPr lang="en-US" dirty="0"/>
              <a:t>School Infrastructure data was connected using School ID through the socio-economic dataset.</a:t>
            </a:r>
          </a:p>
          <a:p>
            <a:pPr marL="285750" indent="-285750">
              <a:buFont typeface="Wingdings" panose="05000000000000000000" pitchFamily="2" charset="2"/>
              <a:buChar char="Ø"/>
            </a:pPr>
            <a:r>
              <a:rPr lang="en-US" dirty="0"/>
              <a:t>This model enables cross-table analysis and interactive filtering in dashboards.</a:t>
            </a:r>
          </a:p>
        </p:txBody>
      </p:sp>
      <p:sp>
        <p:nvSpPr>
          <p:cNvPr id="3" name="Slide Number Placeholder 2">
            <a:extLst>
              <a:ext uri="{FF2B5EF4-FFF2-40B4-BE49-F238E27FC236}">
                <a16:creationId xmlns:a16="http://schemas.microsoft.com/office/drawing/2014/main" id="{62B85962-5A7F-E8A8-AB99-772989CD875E}"/>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4" name="Title 3">
            <a:extLst>
              <a:ext uri="{FF2B5EF4-FFF2-40B4-BE49-F238E27FC236}">
                <a16:creationId xmlns:a16="http://schemas.microsoft.com/office/drawing/2014/main" id="{E41D1672-B70C-F252-BDE2-0FD9438733B8}"/>
              </a:ext>
            </a:extLst>
          </p:cNvPr>
          <p:cNvSpPr>
            <a:spLocks noGrp="1"/>
          </p:cNvSpPr>
          <p:nvPr>
            <p:ph type="title"/>
          </p:nvPr>
        </p:nvSpPr>
        <p:spPr>
          <a:xfrm>
            <a:off x="1695704" y="558802"/>
            <a:ext cx="7781544" cy="634999"/>
          </a:xfrm>
        </p:spPr>
        <p:txBody>
          <a:bodyPr>
            <a:normAutofit fontScale="90000"/>
          </a:bodyPr>
          <a:lstStyle/>
          <a:p>
            <a:pPr algn="ctr"/>
            <a:r>
              <a:rPr lang="en-US" sz="4400" dirty="0">
                <a:solidFill>
                  <a:schemeClr val="accent2"/>
                </a:solidFill>
                <a:latin typeface="Arial" panose="020B0604020202020204" pitchFamily="34" charset="0"/>
                <a:ea typeface="Tahoma" panose="020B0604030504040204" pitchFamily="34" charset="0"/>
                <a:cs typeface="Arial" panose="020B0604020202020204" pitchFamily="34" charset="0"/>
              </a:rPr>
              <a:t>Data</a:t>
            </a:r>
            <a:r>
              <a:rPr lang="en-US" sz="4000" dirty="0">
                <a:latin typeface="Arial" panose="020B0604020202020204" pitchFamily="34" charset="0"/>
                <a:cs typeface="Arial" panose="020B0604020202020204" pitchFamily="34" charset="0"/>
              </a:rPr>
              <a:t> </a:t>
            </a:r>
            <a:r>
              <a:rPr lang="en-US" sz="4400" dirty="0">
                <a:solidFill>
                  <a:schemeClr val="accent2"/>
                </a:solidFill>
                <a:latin typeface="Arial" panose="020B0604020202020204" pitchFamily="34" charset="0"/>
                <a:ea typeface="Tahoma" panose="020B0604030504040204" pitchFamily="34" charset="0"/>
                <a:cs typeface="Arial" panose="020B0604020202020204" pitchFamily="34" charset="0"/>
              </a:rPr>
              <a:t>Modeling</a:t>
            </a:r>
          </a:p>
        </p:txBody>
      </p:sp>
    </p:spTree>
    <p:extLst>
      <p:ext uri="{BB962C8B-B14F-4D97-AF65-F5344CB8AC3E}">
        <p14:creationId xmlns:p14="http://schemas.microsoft.com/office/powerpoint/2010/main" val="43506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FDB397-4B43-77CC-B13C-B06858E04BE3}"/>
              </a:ext>
            </a:extLst>
          </p:cNvPr>
          <p:cNvSpPr>
            <a:spLocks noGrp="1"/>
          </p:cNvSpPr>
          <p:nvPr>
            <p:ph type="body" idx="1"/>
          </p:nvPr>
        </p:nvSpPr>
        <p:spPr>
          <a:xfrm>
            <a:off x="435610" y="1635760"/>
            <a:ext cx="8149590" cy="4805680"/>
          </a:xfrm>
        </p:spPr>
        <p:txBody>
          <a:bodyPr>
            <a:noAutofit/>
          </a:bodyPr>
          <a:lstStyle/>
          <a:p>
            <a:r>
              <a:rPr lang="en-US" sz="1400" dirty="0">
                <a:latin typeface="Arial" panose="020B0604020202020204" pitchFamily="34" charset="0"/>
              </a:rPr>
              <a:t>The overall student performance analysis provides a general overview of academic outcomes across the dataset.</a:t>
            </a:r>
          </a:p>
          <a:p>
            <a:r>
              <a:rPr lang="en-US" sz="1400" dirty="0">
                <a:latin typeface="Arial" panose="020B0604020202020204" pitchFamily="34" charset="0"/>
              </a:rPr>
              <a:t>The average student score is approximately </a:t>
            </a:r>
            <a:r>
              <a:rPr lang="en-US" sz="1400" b="1" dirty="0">
                <a:latin typeface="Arial" panose="020B0604020202020204" pitchFamily="34" charset="0"/>
              </a:rPr>
              <a:t>65–66</a:t>
            </a:r>
            <a:r>
              <a:rPr lang="en-US" sz="1400" dirty="0">
                <a:latin typeface="Arial" panose="020B0604020202020204" pitchFamily="34" charset="0"/>
              </a:rPr>
              <a:t>, indicating that most students perform at a moderate level. The score distribution shows that the majority of students fall within the </a:t>
            </a:r>
            <a:r>
              <a:rPr lang="en-US" sz="1400" b="1" dirty="0">
                <a:latin typeface="Arial" panose="020B0604020202020204" pitchFamily="34" charset="0"/>
              </a:rPr>
              <a:t>60–80 score range</a:t>
            </a:r>
            <a:r>
              <a:rPr lang="en-US" sz="1400" dirty="0">
                <a:latin typeface="Arial" panose="020B0604020202020204" pitchFamily="34" charset="0"/>
              </a:rPr>
              <a:t>, which represents the central cluster of performance. Only a small percentage of students score extremely low or extremely high, suggesting the presence of limited outliers.</a:t>
            </a:r>
          </a:p>
          <a:p>
            <a:r>
              <a:rPr lang="en-US" sz="1400" dirty="0">
                <a:latin typeface="Arial" panose="020B0604020202020204" pitchFamily="34" charset="0"/>
              </a:rPr>
              <a:t>When comparing student performance across different states, the results show </a:t>
            </a:r>
            <a:r>
              <a:rPr lang="en-US" sz="1400" b="1" dirty="0">
                <a:latin typeface="Arial" panose="020B0604020202020204" pitchFamily="34" charset="0"/>
              </a:rPr>
              <a:t>very little variation</a:t>
            </a:r>
            <a:r>
              <a:rPr lang="en-US" sz="1400" dirty="0">
                <a:latin typeface="Arial" panose="020B0604020202020204" pitchFamily="34" charset="0"/>
              </a:rPr>
              <a:t>. This suggests that geographical location alone does not significantly affect academic outcomes within the dataset. Instead, other factors such as attendance, infrastructure availability, and socio-economic background may play a more important role.</a:t>
            </a:r>
          </a:p>
          <a:p>
            <a:pPr marL="285750" indent="-285750">
              <a:buFont typeface="Wingdings" panose="05000000000000000000" pitchFamily="2" charset="2"/>
              <a:buChar char="Ø"/>
            </a:pPr>
            <a:r>
              <a:rPr lang="en-US" sz="1400" dirty="0">
                <a:latin typeface="Arial" panose="020B0604020202020204" pitchFamily="34" charset="0"/>
              </a:rPr>
              <a:t>The dashboard begins with key performance indicators summarizing student outcomes.</a:t>
            </a:r>
          </a:p>
          <a:p>
            <a:pPr marL="285750" indent="-285750">
              <a:buFont typeface="Wingdings" panose="05000000000000000000" pitchFamily="2" charset="2"/>
              <a:buChar char="Ø"/>
            </a:pPr>
            <a:r>
              <a:rPr lang="en-US" sz="1400" dirty="0">
                <a:latin typeface="Arial" panose="020B0604020202020204" pitchFamily="34" charset="0"/>
              </a:rPr>
              <a:t>Metrics include total number of students, average score, highest score, and lowest score.</a:t>
            </a:r>
          </a:p>
          <a:p>
            <a:pPr marL="285750" indent="-285750">
              <a:buFont typeface="Wingdings" panose="05000000000000000000" pitchFamily="2" charset="2"/>
              <a:buChar char="Ø"/>
            </a:pPr>
            <a:r>
              <a:rPr lang="en-US" sz="1400" dirty="0">
                <a:latin typeface="Arial" panose="020B0604020202020204" pitchFamily="34" charset="0"/>
              </a:rPr>
              <a:t>These indicators provide a quick overview of the dataset.</a:t>
            </a:r>
          </a:p>
          <a:p>
            <a:pPr marL="285750" indent="-285750">
              <a:buFont typeface="Wingdings" panose="05000000000000000000" pitchFamily="2" charset="2"/>
              <a:buChar char="Ø"/>
            </a:pPr>
            <a:r>
              <a:rPr lang="en-US" sz="1400" dirty="0">
                <a:latin typeface="Arial" panose="020B0604020202020204" pitchFamily="34" charset="0"/>
              </a:rPr>
              <a:t>They also help identify general performance levels before deeper analysis is conducted.</a:t>
            </a:r>
          </a:p>
        </p:txBody>
      </p:sp>
      <p:sp>
        <p:nvSpPr>
          <p:cNvPr id="3" name="Slide Number Placeholder 2">
            <a:extLst>
              <a:ext uri="{FF2B5EF4-FFF2-40B4-BE49-F238E27FC236}">
                <a16:creationId xmlns:a16="http://schemas.microsoft.com/office/drawing/2014/main" id="{EB4815AB-50DA-2B56-BB34-72853684EF84}"/>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4" name="Title 3">
            <a:extLst>
              <a:ext uri="{FF2B5EF4-FFF2-40B4-BE49-F238E27FC236}">
                <a16:creationId xmlns:a16="http://schemas.microsoft.com/office/drawing/2014/main" id="{6E725EF3-439B-3B8E-C2F5-8D587B2357B4}"/>
              </a:ext>
            </a:extLst>
          </p:cNvPr>
          <p:cNvSpPr>
            <a:spLocks noGrp="1"/>
          </p:cNvSpPr>
          <p:nvPr>
            <p:ph type="title"/>
          </p:nvPr>
        </p:nvSpPr>
        <p:spPr>
          <a:xfrm>
            <a:off x="1787144" y="584201"/>
            <a:ext cx="7781544" cy="655320"/>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Student</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Performance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Analysis</a:t>
            </a:r>
          </a:p>
        </p:txBody>
      </p:sp>
    </p:spTree>
    <p:extLst>
      <p:ext uri="{BB962C8B-B14F-4D97-AF65-F5344CB8AC3E}">
        <p14:creationId xmlns:p14="http://schemas.microsoft.com/office/powerpoint/2010/main" val="3122417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C8791-10CD-7299-056E-FBB3885A1581}"/>
              </a:ext>
            </a:extLst>
          </p:cNvPr>
          <p:cNvSpPr>
            <a:spLocks noGrp="1"/>
          </p:cNvSpPr>
          <p:nvPr>
            <p:ph type="body" idx="1"/>
          </p:nvPr>
        </p:nvSpPr>
        <p:spPr>
          <a:xfrm>
            <a:off x="476250" y="2245360"/>
            <a:ext cx="8058150" cy="326136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A histogram was used to analyze how student scores are distributed.</a:t>
            </a:r>
          </a:p>
          <a:p>
            <a:pPr marL="285750" indent="-285750">
              <a:buFont typeface="Wingdings" panose="05000000000000000000" pitchFamily="2" charset="2"/>
              <a:buChar char="Ø"/>
            </a:pPr>
            <a:r>
              <a:rPr lang="en-US" sz="1800" dirty="0">
                <a:latin typeface="Arial" panose="020B0604020202020204" pitchFamily="34" charset="0"/>
              </a:rPr>
              <a:t>The distribution shows that most students scored between 60 and 80.</a:t>
            </a:r>
          </a:p>
          <a:p>
            <a:pPr marL="285750" indent="-285750">
              <a:buFont typeface="Wingdings" panose="05000000000000000000" pitchFamily="2" charset="2"/>
              <a:buChar char="Ø"/>
            </a:pPr>
            <a:r>
              <a:rPr lang="en-US" sz="1800" dirty="0">
                <a:latin typeface="Arial" panose="020B0604020202020204" pitchFamily="34" charset="0"/>
              </a:rPr>
              <a:t>This indicates moderate academic performance across the majority of students.</a:t>
            </a:r>
          </a:p>
          <a:p>
            <a:pPr marL="285750" indent="-285750">
              <a:buFont typeface="Wingdings" panose="05000000000000000000" pitchFamily="2" charset="2"/>
              <a:buChar char="Ø"/>
            </a:pPr>
            <a:r>
              <a:rPr lang="en-US" sz="1800" dirty="0">
                <a:latin typeface="Arial" panose="020B0604020202020204" pitchFamily="34" charset="0"/>
              </a:rPr>
              <a:t>A small number of students scored extremely high or extremely low, indicating possible outliers.</a:t>
            </a:r>
          </a:p>
        </p:txBody>
      </p:sp>
      <p:sp>
        <p:nvSpPr>
          <p:cNvPr id="3" name="Slide Number Placeholder 2">
            <a:extLst>
              <a:ext uri="{FF2B5EF4-FFF2-40B4-BE49-F238E27FC236}">
                <a16:creationId xmlns:a16="http://schemas.microsoft.com/office/drawing/2014/main" id="{63ED786C-ADF7-E09F-1618-C7EE376531D3}"/>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Title 3">
            <a:extLst>
              <a:ext uri="{FF2B5EF4-FFF2-40B4-BE49-F238E27FC236}">
                <a16:creationId xmlns:a16="http://schemas.microsoft.com/office/drawing/2014/main" id="{E5AA31A3-9925-8179-6A57-FFE0382BFC4E}"/>
              </a:ext>
            </a:extLst>
          </p:cNvPr>
          <p:cNvSpPr>
            <a:spLocks noGrp="1"/>
          </p:cNvSpPr>
          <p:nvPr>
            <p:ph type="title"/>
          </p:nvPr>
        </p:nvSpPr>
        <p:spPr>
          <a:xfrm>
            <a:off x="1837690" y="304801"/>
            <a:ext cx="7781544" cy="1117600"/>
          </a:xfrm>
        </p:spPr>
        <p:txBody>
          <a:bodyPr>
            <a:no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Student</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Score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Distribution</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Analysis</a:t>
            </a:r>
          </a:p>
        </p:txBody>
      </p:sp>
    </p:spTree>
    <p:extLst>
      <p:ext uri="{BB962C8B-B14F-4D97-AF65-F5344CB8AC3E}">
        <p14:creationId xmlns:p14="http://schemas.microsoft.com/office/powerpoint/2010/main" val="1653784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4A57CA4-3B77-27C1-9C6C-C2E34E659B5B}"/>
              </a:ext>
            </a:extLst>
          </p:cNvPr>
          <p:cNvSpPr>
            <a:spLocks noGrp="1"/>
          </p:cNvSpPr>
          <p:nvPr>
            <p:ph type="body" idx="1"/>
          </p:nvPr>
        </p:nvSpPr>
        <p:spPr>
          <a:xfrm>
            <a:off x="476250" y="2346960"/>
            <a:ext cx="8037830" cy="349504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Average student scores were analyzed across different states.</a:t>
            </a:r>
          </a:p>
          <a:p>
            <a:pPr marL="285750" indent="-285750">
              <a:buFont typeface="Wingdings" panose="05000000000000000000" pitchFamily="2" charset="2"/>
              <a:buChar char="Ø"/>
            </a:pPr>
            <a:r>
              <a:rPr lang="en-US" sz="1800" dirty="0">
                <a:latin typeface="Arial" panose="020B0604020202020204" pitchFamily="34" charset="0"/>
              </a:rPr>
              <a:t>The results show relatively small variation in performance across regions.</a:t>
            </a:r>
          </a:p>
          <a:p>
            <a:pPr marL="285750" indent="-285750">
              <a:buFont typeface="Wingdings" panose="05000000000000000000" pitchFamily="2" charset="2"/>
              <a:buChar char="Ø"/>
            </a:pPr>
            <a:r>
              <a:rPr lang="en-US" sz="1800" dirty="0">
                <a:latin typeface="Arial" panose="020B0604020202020204" pitchFamily="34" charset="0"/>
              </a:rPr>
              <a:t>No state shows extremely high or extremely low performance compared with others.</a:t>
            </a:r>
          </a:p>
          <a:p>
            <a:pPr marL="285750" indent="-285750">
              <a:buFont typeface="Wingdings" panose="05000000000000000000" pitchFamily="2" charset="2"/>
              <a:buChar char="Ø"/>
            </a:pPr>
            <a:r>
              <a:rPr lang="en-US" sz="1800" dirty="0">
                <a:latin typeface="Arial" panose="020B0604020202020204" pitchFamily="34" charset="0"/>
              </a:rPr>
              <a:t>This suggests that geographic location may not be the primary factor affecting student outcomes.</a:t>
            </a:r>
          </a:p>
        </p:txBody>
      </p:sp>
      <p:sp>
        <p:nvSpPr>
          <p:cNvPr id="3" name="Slide Number Placeholder 2">
            <a:extLst>
              <a:ext uri="{FF2B5EF4-FFF2-40B4-BE49-F238E27FC236}">
                <a16:creationId xmlns:a16="http://schemas.microsoft.com/office/drawing/2014/main" id="{DE68183B-C25A-44B2-9877-7CA730943961}"/>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Title 3">
            <a:extLst>
              <a:ext uri="{FF2B5EF4-FFF2-40B4-BE49-F238E27FC236}">
                <a16:creationId xmlns:a16="http://schemas.microsoft.com/office/drawing/2014/main" id="{19C673D5-E03E-5F5F-26A0-8F49707C2956}"/>
              </a:ext>
            </a:extLst>
          </p:cNvPr>
          <p:cNvSpPr>
            <a:spLocks noGrp="1"/>
          </p:cNvSpPr>
          <p:nvPr>
            <p:ph type="title"/>
          </p:nvPr>
        </p:nvSpPr>
        <p:spPr>
          <a:xfrm>
            <a:off x="1827784" y="574040"/>
            <a:ext cx="7781544" cy="859055"/>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Student</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Performance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by</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State</a:t>
            </a:r>
          </a:p>
        </p:txBody>
      </p:sp>
    </p:spTree>
    <p:extLst>
      <p:ext uri="{BB962C8B-B14F-4D97-AF65-F5344CB8AC3E}">
        <p14:creationId xmlns:p14="http://schemas.microsoft.com/office/powerpoint/2010/main" val="2964549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D152C5-7D52-E660-F54E-236F30177338}"/>
              </a:ext>
            </a:extLst>
          </p:cNvPr>
          <p:cNvSpPr>
            <a:spLocks noGrp="1"/>
          </p:cNvSpPr>
          <p:nvPr>
            <p:ph type="body" idx="1"/>
          </p:nvPr>
        </p:nvSpPr>
        <p:spPr>
          <a:xfrm>
            <a:off x="364490" y="1940560"/>
            <a:ext cx="8230870" cy="4185920"/>
          </a:xfrm>
        </p:spPr>
        <p:txBody>
          <a:bodyPr>
            <a:normAutofit lnSpcReduction="10000"/>
          </a:bodyPr>
          <a:lstStyle/>
          <a:p>
            <a:r>
              <a:rPr lang="en-US" dirty="0">
                <a:latin typeface="Arial" panose="020B0604020202020204" pitchFamily="34" charset="0"/>
              </a:rPr>
              <a:t>Teacher data was analyzed to understand the composition and experience level of the teaching workforce. The dataset shows that most teachers possess </a:t>
            </a:r>
            <a:r>
              <a:rPr lang="en-US" b="1" dirty="0">
                <a:latin typeface="Arial" panose="020B0604020202020204" pitchFamily="34" charset="0"/>
              </a:rPr>
              <a:t>graduate or postgraduate qualifications</a:t>
            </a:r>
            <a:r>
              <a:rPr lang="en-US" dirty="0">
                <a:latin typeface="Arial" panose="020B0604020202020204" pitchFamily="34" charset="0"/>
              </a:rPr>
              <a:t>, indicating a well-educated teaching population.</a:t>
            </a:r>
          </a:p>
          <a:p>
            <a:r>
              <a:rPr lang="en-US" dirty="0">
                <a:latin typeface="Arial" panose="020B0604020202020204" pitchFamily="34" charset="0"/>
              </a:rPr>
              <a:t>The analysis also shows that a significant portion of teachers have completed professional training programs. Teacher training plays an important role in improving teaching quality, classroom management, and curriculum delivery.</a:t>
            </a:r>
          </a:p>
          <a:p>
            <a:r>
              <a:rPr lang="en-US" dirty="0">
                <a:latin typeface="Arial" panose="020B0604020202020204" pitchFamily="34" charset="0"/>
              </a:rPr>
              <a:t>Additionally, the majority of teachers fall within the </a:t>
            </a:r>
            <a:r>
              <a:rPr lang="en-US" b="1" dirty="0">
                <a:latin typeface="Arial" panose="020B0604020202020204" pitchFamily="34" charset="0"/>
              </a:rPr>
              <a:t>5 to 25 years of teaching experience range</a:t>
            </a:r>
            <a:r>
              <a:rPr lang="en-US" dirty="0">
                <a:latin typeface="Arial" panose="020B0604020202020204" pitchFamily="34" charset="0"/>
              </a:rPr>
              <a:t>, demonstrating a stable and experienced teaching workforce. Experienced educators often contribute to more effective teaching practices and consistent learning environments.</a:t>
            </a:r>
          </a:p>
          <a:p>
            <a:r>
              <a:rPr lang="en-US" dirty="0">
                <a:latin typeface="Arial" panose="020B0604020202020204" pitchFamily="34" charset="0"/>
              </a:rPr>
              <a:t>Due to dataset limitations, teacher data could not be directly linked to student performance; however, the overall profile of the teaching workforce indicates a strong foundation for delivering quality education.</a:t>
            </a:r>
          </a:p>
          <a:p>
            <a:endParaRPr lang="en-US" dirty="0"/>
          </a:p>
        </p:txBody>
      </p:sp>
      <p:sp>
        <p:nvSpPr>
          <p:cNvPr id="3" name="Slide Number Placeholder 2">
            <a:extLst>
              <a:ext uri="{FF2B5EF4-FFF2-40B4-BE49-F238E27FC236}">
                <a16:creationId xmlns:a16="http://schemas.microsoft.com/office/drawing/2014/main" id="{EC2CF9F9-E64C-2BAE-A9C0-B38638BD797B}"/>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Title 3">
            <a:extLst>
              <a:ext uri="{FF2B5EF4-FFF2-40B4-BE49-F238E27FC236}">
                <a16:creationId xmlns:a16="http://schemas.microsoft.com/office/drawing/2014/main" id="{DFE14D76-8291-8167-9A21-75DD63A024FE}"/>
              </a:ext>
            </a:extLst>
          </p:cNvPr>
          <p:cNvSpPr>
            <a:spLocks noGrp="1"/>
          </p:cNvSpPr>
          <p:nvPr>
            <p:ph type="title"/>
          </p:nvPr>
        </p:nvSpPr>
        <p:spPr>
          <a:xfrm>
            <a:off x="1776984" y="508000"/>
            <a:ext cx="7781544" cy="752375"/>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Teacher</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Workforce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Analysis</a:t>
            </a:r>
          </a:p>
        </p:txBody>
      </p:sp>
    </p:spTree>
    <p:extLst>
      <p:ext uri="{BB962C8B-B14F-4D97-AF65-F5344CB8AC3E}">
        <p14:creationId xmlns:p14="http://schemas.microsoft.com/office/powerpoint/2010/main" val="3891947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51E9EF-27C9-AC39-58A5-B5CA459552A8}"/>
              </a:ext>
            </a:extLst>
          </p:cNvPr>
          <p:cNvSpPr>
            <a:spLocks noGrp="1"/>
          </p:cNvSpPr>
          <p:nvPr>
            <p:ph type="body" idx="1"/>
          </p:nvPr>
        </p:nvSpPr>
        <p:spPr>
          <a:xfrm>
            <a:off x="344170" y="2377440"/>
            <a:ext cx="8119110" cy="325120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Teachers were grouped according to years of teaching experience.</a:t>
            </a:r>
          </a:p>
          <a:p>
            <a:pPr marL="285750" indent="-285750">
              <a:buFont typeface="Wingdings" panose="05000000000000000000" pitchFamily="2" charset="2"/>
              <a:buChar char="Ø"/>
            </a:pPr>
            <a:r>
              <a:rPr lang="en-US" sz="1800" dirty="0">
                <a:latin typeface="Arial" panose="020B0604020202020204" pitchFamily="34" charset="0"/>
              </a:rPr>
              <a:t>Most teachers fall within the range of 5 to 25 years of experience.</a:t>
            </a:r>
          </a:p>
          <a:p>
            <a:pPr marL="285750" indent="-285750">
              <a:buFont typeface="Wingdings" panose="05000000000000000000" pitchFamily="2" charset="2"/>
              <a:buChar char="Ø"/>
            </a:pPr>
            <a:r>
              <a:rPr lang="en-US" sz="1800" dirty="0">
                <a:latin typeface="Arial" panose="020B0604020202020204" pitchFamily="34" charset="0"/>
              </a:rPr>
              <a:t>This indicates that the education system benefits from experienced educators.</a:t>
            </a:r>
          </a:p>
          <a:p>
            <a:pPr marL="285750" indent="-285750">
              <a:buFont typeface="Wingdings" panose="05000000000000000000" pitchFamily="2" charset="2"/>
              <a:buChar char="Ø"/>
            </a:pPr>
            <a:r>
              <a:rPr lang="en-US" sz="1800" dirty="0">
                <a:latin typeface="Arial" panose="020B0604020202020204" pitchFamily="34" charset="0"/>
              </a:rPr>
              <a:t>Teacher experience is often associated with improved classroom management and teaching effectiveness.</a:t>
            </a:r>
          </a:p>
        </p:txBody>
      </p:sp>
      <p:sp>
        <p:nvSpPr>
          <p:cNvPr id="3" name="Slide Number Placeholder 2">
            <a:extLst>
              <a:ext uri="{FF2B5EF4-FFF2-40B4-BE49-F238E27FC236}">
                <a16:creationId xmlns:a16="http://schemas.microsoft.com/office/drawing/2014/main" id="{A0C4F7B1-CEC4-9C10-FD79-8D790A3BB22A}"/>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Title 3">
            <a:extLst>
              <a:ext uri="{FF2B5EF4-FFF2-40B4-BE49-F238E27FC236}">
                <a16:creationId xmlns:a16="http://schemas.microsoft.com/office/drawing/2014/main" id="{1E14437E-7033-F0CB-BCF9-FB08B3D31CB9}"/>
              </a:ext>
            </a:extLst>
          </p:cNvPr>
          <p:cNvSpPr>
            <a:spLocks noGrp="1"/>
          </p:cNvSpPr>
          <p:nvPr>
            <p:ph type="title"/>
          </p:nvPr>
        </p:nvSpPr>
        <p:spPr>
          <a:xfrm>
            <a:off x="1797304" y="548640"/>
            <a:ext cx="7781544" cy="701575"/>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Teacher</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Experience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Insights</a:t>
            </a:r>
          </a:p>
        </p:txBody>
      </p:sp>
    </p:spTree>
    <p:extLst>
      <p:ext uri="{BB962C8B-B14F-4D97-AF65-F5344CB8AC3E}">
        <p14:creationId xmlns:p14="http://schemas.microsoft.com/office/powerpoint/2010/main" val="2622840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4CE682-E7BD-F6F3-39D3-E3B097F7F111}"/>
              </a:ext>
            </a:extLst>
          </p:cNvPr>
          <p:cNvSpPr>
            <a:spLocks noGrp="1"/>
          </p:cNvSpPr>
          <p:nvPr>
            <p:ph type="body" idx="1"/>
          </p:nvPr>
        </p:nvSpPr>
        <p:spPr>
          <a:xfrm>
            <a:off x="486410" y="1930400"/>
            <a:ext cx="8007350" cy="4450080"/>
          </a:xfrm>
        </p:spPr>
        <p:txBody>
          <a:bodyPr/>
          <a:lstStyle/>
          <a:p>
            <a:r>
              <a:rPr lang="en-US" sz="1800" dirty="0">
                <a:latin typeface="Arial" panose="020B0604020202020204" pitchFamily="34" charset="0"/>
              </a:rPr>
              <a:t>School infrastructure is an important factor in supporting student learning. The analysis considered two key facilities: </a:t>
            </a:r>
            <a:r>
              <a:rPr lang="en-US" sz="1800" b="1" dirty="0">
                <a:latin typeface="Arial" panose="020B0604020202020204" pitchFamily="34" charset="0"/>
              </a:rPr>
              <a:t>internet access and library availability</a:t>
            </a:r>
            <a:r>
              <a:rPr lang="en-US" sz="1800" dirty="0">
                <a:latin typeface="Arial" panose="020B0604020202020204" pitchFamily="34" charset="0"/>
              </a:rPr>
              <a:t>.</a:t>
            </a:r>
          </a:p>
          <a:p>
            <a:r>
              <a:rPr lang="en-US" sz="1800" dirty="0">
                <a:latin typeface="Arial" panose="020B0604020202020204" pitchFamily="34" charset="0"/>
              </a:rPr>
              <a:t>An </a:t>
            </a:r>
            <a:r>
              <a:rPr lang="en-US" sz="1800" b="1" dirty="0">
                <a:latin typeface="Arial" panose="020B0604020202020204" pitchFamily="34" charset="0"/>
              </a:rPr>
              <a:t>Infrastructure Score</a:t>
            </a:r>
            <a:r>
              <a:rPr lang="en-US" sz="1800" dirty="0">
                <a:latin typeface="Arial" panose="020B0604020202020204" pitchFamily="34" charset="0"/>
              </a:rPr>
              <a:t> was created to represent the availability of these facilities. Schools with both internet access and library resources generally show slightly higher student performance compared to schools with limited infrastructure.</a:t>
            </a:r>
          </a:p>
          <a:p>
            <a:r>
              <a:rPr lang="en-US" sz="1800" dirty="0">
                <a:latin typeface="Arial" panose="020B0604020202020204" pitchFamily="34" charset="0"/>
              </a:rPr>
              <a:t>Although the performance differences are relatively small in this dataset, access to educational resources such as digital connectivity and library materials helps create better learning environments. These resources allow students to conduct research, access additional study materials, and enhance their overall learning experience.</a:t>
            </a:r>
          </a:p>
          <a:p>
            <a:endParaRPr lang="en-US" dirty="0"/>
          </a:p>
        </p:txBody>
      </p:sp>
      <p:sp>
        <p:nvSpPr>
          <p:cNvPr id="3" name="Slide Number Placeholder 2">
            <a:extLst>
              <a:ext uri="{FF2B5EF4-FFF2-40B4-BE49-F238E27FC236}">
                <a16:creationId xmlns:a16="http://schemas.microsoft.com/office/drawing/2014/main" id="{2EDA6BE4-176E-9A17-697A-FF946FE737AA}"/>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4" name="Title 3">
            <a:extLst>
              <a:ext uri="{FF2B5EF4-FFF2-40B4-BE49-F238E27FC236}">
                <a16:creationId xmlns:a16="http://schemas.microsoft.com/office/drawing/2014/main" id="{A77A1DC8-75C6-41CF-3005-9E14A8D7C456}"/>
              </a:ext>
            </a:extLst>
          </p:cNvPr>
          <p:cNvSpPr>
            <a:spLocks noGrp="1"/>
          </p:cNvSpPr>
          <p:nvPr>
            <p:ph type="title"/>
          </p:nvPr>
        </p:nvSpPr>
        <p:spPr>
          <a:xfrm>
            <a:off x="1594104" y="548640"/>
            <a:ext cx="7781544" cy="691415"/>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School</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Infrastructure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Impact</a:t>
            </a:r>
          </a:p>
        </p:txBody>
      </p:sp>
    </p:spTree>
    <p:extLst>
      <p:ext uri="{BB962C8B-B14F-4D97-AF65-F5344CB8AC3E}">
        <p14:creationId xmlns:p14="http://schemas.microsoft.com/office/powerpoint/2010/main" val="2085045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9477EC-0C1A-B5CA-8C8B-3D098298F72D}"/>
              </a:ext>
            </a:extLst>
          </p:cNvPr>
          <p:cNvSpPr>
            <a:spLocks noGrp="1"/>
          </p:cNvSpPr>
          <p:nvPr>
            <p:ph type="body" idx="1"/>
          </p:nvPr>
        </p:nvSpPr>
        <p:spPr>
          <a:xfrm>
            <a:off x="567690" y="2158999"/>
            <a:ext cx="7438390" cy="412496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School infrastructure is a key factor affecting the learning environment.</a:t>
            </a:r>
          </a:p>
          <a:p>
            <a:pPr marL="285750" indent="-285750">
              <a:buFont typeface="Wingdings" panose="05000000000000000000" pitchFamily="2" charset="2"/>
              <a:buChar char="Ø"/>
            </a:pPr>
            <a:r>
              <a:rPr lang="en-US" sz="1800" dirty="0">
                <a:latin typeface="Arial" panose="020B0604020202020204" pitchFamily="34" charset="0"/>
              </a:rPr>
              <a:t>The analysis focused on internet access and library availability in schools.</a:t>
            </a:r>
          </a:p>
          <a:p>
            <a:pPr marL="285750" indent="-285750">
              <a:buFont typeface="Wingdings" panose="05000000000000000000" pitchFamily="2" charset="2"/>
              <a:buChar char="Ø"/>
            </a:pPr>
            <a:r>
              <a:rPr lang="en-US" sz="1800" dirty="0">
                <a:latin typeface="Arial" panose="020B0604020202020204" pitchFamily="34" charset="0"/>
              </a:rPr>
              <a:t>These facilities provide students with access to learning resources, research materials, and digital knowledge.</a:t>
            </a:r>
          </a:p>
          <a:p>
            <a:pPr marL="285750" indent="-285750">
              <a:buFont typeface="Wingdings" panose="05000000000000000000" pitchFamily="2" charset="2"/>
              <a:buChar char="Ø"/>
            </a:pPr>
            <a:r>
              <a:rPr lang="en-US" sz="1800" dirty="0">
                <a:latin typeface="Arial" panose="020B0604020202020204" pitchFamily="34" charset="0"/>
              </a:rPr>
              <a:t>Improved infrastructure may support better academic outcomes.</a:t>
            </a:r>
          </a:p>
        </p:txBody>
      </p:sp>
      <p:sp>
        <p:nvSpPr>
          <p:cNvPr id="3" name="Slide Number Placeholder 2">
            <a:extLst>
              <a:ext uri="{FF2B5EF4-FFF2-40B4-BE49-F238E27FC236}">
                <a16:creationId xmlns:a16="http://schemas.microsoft.com/office/drawing/2014/main" id="{00E12759-5277-FDE7-3ADB-27DF3B80F1FE}"/>
              </a:ext>
            </a:extLst>
          </p:cNvPr>
          <p:cNvSpPr>
            <a:spLocks noGrp="1"/>
          </p:cNvSpPr>
          <p:nvPr>
            <p:ph type="sldNum" sz="quarter" idx="12"/>
          </p:nvPr>
        </p:nvSpPr>
        <p:spPr/>
        <p:txBody>
          <a:bodyPr/>
          <a:lstStyle/>
          <a:p>
            <a:fld id="{C263D6C4-4840-40CC-AC84-17E24B3B7BDE}" type="slidenum">
              <a:rPr lang="en-US" noProof="0" smtClean="0"/>
              <a:pPr/>
              <a:t>16</a:t>
            </a:fld>
            <a:endParaRPr lang="en-US" noProof="0" dirty="0"/>
          </a:p>
        </p:txBody>
      </p:sp>
      <p:sp>
        <p:nvSpPr>
          <p:cNvPr id="4" name="Title 3">
            <a:extLst>
              <a:ext uri="{FF2B5EF4-FFF2-40B4-BE49-F238E27FC236}">
                <a16:creationId xmlns:a16="http://schemas.microsoft.com/office/drawing/2014/main" id="{B95C72BB-CB14-1B2C-A970-95B924AA3984}"/>
              </a:ext>
            </a:extLst>
          </p:cNvPr>
          <p:cNvSpPr>
            <a:spLocks noGrp="1"/>
          </p:cNvSpPr>
          <p:nvPr>
            <p:ph type="title"/>
          </p:nvPr>
        </p:nvSpPr>
        <p:spPr>
          <a:xfrm>
            <a:off x="1766824" y="574041"/>
            <a:ext cx="7781544" cy="767080"/>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School</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Infrastructure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Analysis</a:t>
            </a:r>
          </a:p>
        </p:txBody>
      </p:sp>
    </p:spTree>
    <p:extLst>
      <p:ext uri="{BB962C8B-B14F-4D97-AF65-F5344CB8AC3E}">
        <p14:creationId xmlns:p14="http://schemas.microsoft.com/office/powerpoint/2010/main" val="3269022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601C3E-1361-4433-6DD6-71C2BBED48E8}"/>
              </a:ext>
            </a:extLst>
          </p:cNvPr>
          <p:cNvSpPr>
            <a:spLocks noGrp="1"/>
          </p:cNvSpPr>
          <p:nvPr>
            <p:ph type="body" idx="1"/>
          </p:nvPr>
        </p:nvSpPr>
        <p:spPr>
          <a:xfrm>
            <a:off x="486410" y="2052320"/>
            <a:ext cx="7895590" cy="303784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An infrastructure score was created by combining internet access and library availability.</a:t>
            </a:r>
          </a:p>
          <a:p>
            <a:pPr marL="285750" indent="-285750">
              <a:buFont typeface="Wingdings" panose="05000000000000000000" pitchFamily="2" charset="2"/>
              <a:buChar char="Ø"/>
            </a:pPr>
            <a:r>
              <a:rPr lang="en-US" sz="1800" dirty="0">
                <a:latin typeface="Arial" panose="020B0604020202020204" pitchFamily="34" charset="0"/>
              </a:rPr>
              <a:t>A score of 0 represents schools with neither facility.</a:t>
            </a:r>
          </a:p>
          <a:p>
            <a:pPr marL="285750" indent="-285750">
              <a:buFont typeface="Wingdings" panose="05000000000000000000" pitchFamily="2" charset="2"/>
              <a:buChar char="Ø"/>
            </a:pPr>
            <a:r>
              <a:rPr lang="en-US" sz="1800" dirty="0">
                <a:latin typeface="Arial" panose="020B0604020202020204" pitchFamily="34" charset="0"/>
              </a:rPr>
              <a:t>A score of 1 represents schools with one facility.</a:t>
            </a:r>
          </a:p>
          <a:p>
            <a:pPr marL="285750" indent="-285750">
              <a:buFont typeface="Wingdings" panose="05000000000000000000" pitchFamily="2" charset="2"/>
              <a:buChar char="Ø"/>
            </a:pPr>
            <a:r>
              <a:rPr lang="en-US" sz="1800" dirty="0">
                <a:latin typeface="Arial" panose="020B0604020202020204" pitchFamily="34" charset="0"/>
              </a:rPr>
              <a:t>A score of 2 represents schools with both facilities.</a:t>
            </a:r>
          </a:p>
          <a:p>
            <a:pPr marL="285750" indent="-285750">
              <a:buFont typeface="Wingdings" panose="05000000000000000000" pitchFamily="2" charset="2"/>
              <a:buChar char="Ø"/>
            </a:pPr>
            <a:r>
              <a:rPr lang="en-US" sz="1800" dirty="0">
                <a:latin typeface="Arial" panose="020B0604020202020204" pitchFamily="34" charset="0"/>
              </a:rPr>
              <a:t>This metric simplifies analysis of how infrastructure availability relates to student performance.</a:t>
            </a:r>
          </a:p>
        </p:txBody>
      </p:sp>
      <p:sp>
        <p:nvSpPr>
          <p:cNvPr id="3" name="Slide Number Placeholder 2">
            <a:extLst>
              <a:ext uri="{FF2B5EF4-FFF2-40B4-BE49-F238E27FC236}">
                <a16:creationId xmlns:a16="http://schemas.microsoft.com/office/drawing/2014/main" id="{7AECA9B0-0815-27E6-DE1D-3989A4F1B659}"/>
              </a:ext>
            </a:extLst>
          </p:cNvPr>
          <p:cNvSpPr>
            <a:spLocks noGrp="1"/>
          </p:cNvSpPr>
          <p:nvPr>
            <p:ph type="sldNum" sz="quarter" idx="12"/>
          </p:nvPr>
        </p:nvSpPr>
        <p:spPr/>
        <p:txBody>
          <a:bodyPr/>
          <a:lstStyle/>
          <a:p>
            <a:fld id="{C263D6C4-4840-40CC-AC84-17E24B3B7BDE}" type="slidenum">
              <a:rPr lang="en-US" noProof="0" smtClean="0"/>
              <a:pPr/>
              <a:t>17</a:t>
            </a:fld>
            <a:endParaRPr lang="en-US" noProof="0" dirty="0"/>
          </a:p>
        </p:txBody>
      </p:sp>
      <p:sp>
        <p:nvSpPr>
          <p:cNvPr id="4" name="Title 3">
            <a:extLst>
              <a:ext uri="{FF2B5EF4-FFF2-40B4-BE49-F238E27FC236}">
                <a16:creationId xmlns:a16="http://schemas.microsoft.com/office/drawing/2014/main" id="{284546E3-B19C-25B3-070F-A112CB2998F2}"/>
              </a:ext>
            </a:extLst>
          </p:cNvPr>
          <p:cNvSpPr>
            <a:spLocks noGrp="1"/>
          </p:cNvSpPr>
          <p:nvPr>
            <p:ph type="title"/>
          </p:nvPr>
        </p:nvSpPr>
        <p:spPr>
          <a:xfrm>
            <a:off x="1695704" y="513081"/>
            <a:ext cx="7781544" cy="665480"/>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School</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Infrastructure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Score</a:t>
            </a:r>
          </a:p>
        </p:txBody>
      </p:sp>
    </p:spTree>
    <p:extLst>
      <p:ext uri="{BB962C8B-B14F-4D97-AF65-F5344CB8AC3E}">
        <p14:creationId xmlns:p14="http://schemas.microsoft.com/office/powerpoint/2010/main" val="3800828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A90FD1-1FDA-CA6A-CB2C-091065971FA9}"/>
              </a:ext>
            </a:extLst>
          </p:cNvPr>
          <p:cNvSpPr>
            <a:spLocks noGrp="1"/>
          </p:cNvSpPr>
          <p:nvPr>
            <p:ph type="body" idx="1"/>
          </p:nvPr>
        </p:nvSpPr>
        <p:spPr>
          <a:xfrm>
            <a:off x="862330" y="2560320"/>
            <a:ext cx="7651750" cy="330200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Student scores were compared across different infrastructure levels.</a:t>
            </a:r>
          </a:p>
          <a:p>
            <a:pPr marL="285750" indent="-285750">
              <a:buFont typeface="Wingdings" panose="05000000000000000000" pitchFamily="2" charset="2"/>
              <a:buChar char="Ø"/>
            </a:pPr>
            <a:r>
              <a:rPr lang="en-US" sz="1800" dirty="0">
                <a:latin typeface="Arial" panose="020B0604020202020204" pitchFamily="34" charset="0"/>
              </a:rPr>
              <a:t>Schools with better infrastructure show slightly higher average scores.</a:t>
            </a:r>
          </a:p>
          <a:p>
            <a:pPr marL="285750" indent="-285750">
              <a:buFont typeface="Wingdings" panose="05000000000000000000" pitchFamily="2" charset="2"/>
              <a:buChar char="Ø"/>
            </a:pPr>
            <a:r>
              <a:rPr lang="en-US" sz="1800" dirty="0">
                <a:latin typeface="Arial" panose="020B0604020202020204" pitchFamily="34" charset="0"/>
              </a:rPr>
              <a:t>However, the differences in this dataset are relatively small.</a:t>
            </a:r>
          </a:p>
          <a:p>
            <a:pPr marL="285750" indent="-285750">
              <a:buFont typeface="Wingdings" panose="05000000000000000000" pitchFamily="2" charset="2"/>
              <a:buChar char="Ø"/>
            </a:pPr>
            <a:r>
              <a:rPr lang="en-US" sz="1800" dirty="0">
                <a:latin typeface="Arial" panose="020B0604020202020204" pitchFamily="34" charset="0"/>
              </a:rPr>
              <a:t>This suggests infrastructure may contribute to performance but is not the only influencing factor.</a:t>
            </a:r>
          </a:p>
        </p:txBody>
      </p:sp>
      <p:sp>
        <p:nvSpPr>
          <p:cNvPr id="3" name="Slide Number Placeholder 2">
            <a:extLst>
              <a:ext uri="{FF2B5EF4-FFF2-40B4-BE49-F238E27FC236}">
                <a16:creationId xmlns:a16="http://schemas.microsoft.com/office/drawing/2014/main" id="{389A9DC8-6308-0650-E7ED-B12F80A47740}"/>
              </a:ext>
            </a:extLst>
          </p:cNvPr>
          <p:cNvSpPr>
            <a:spLocks noGrp="1"/>
          </p:cNvSpPr>
          <p:nvPr>
            <p:ph type="sldNum" sz="quarter" idx="12"/>
          </p:nvPr>
        </p:nvSpPr>
        <p:spPr/>
        <p:txBody>
          <a:bodyPr/>
          <a:lstStyle/>
          <a:p>
            <a:fld id="{C263D6C4-4840-40CC-AC84-17E24B3B7BDE}" type="slidenum">
              <a:rPr lang="en-US" noProof="0" smtClean="0"/>
              <a:pPr/>
              <a:t>18</a:t>
            </a:fld>
            <a:endParaRPr lang="en-US" noProof="0" dirty="0"/>
          </a:p>
        </p:txBody>
      </p:sp>
      <p:sp>
        <p:nvSpPr>
          <p:cNvPr id="4" name="Title 3">
            <a:extLst>
              <a:ext uri="{FF2B5EF4-FFF2-40B4-BE49-F238E27FC236}">
                <a16:creationId xmlns:a16="http://schemas.microsoft.com/office/drawing/2014/main" id="{0F16305F-4B49-DE7B-2529-D18F1F6C6D21}"/>
              </a:ext>
            </a:extLst>
          </p:cNvPr>
          <p:cNvSpPr>
            <a:spLocks noGrp="1"/>
          </p:cNvSpPr>
          <p:nvPr>
            <p:ph type="title"/>
          </p:nvPr>
        </p:nvSpPr>
        <p:spPr>
          <a:xfrm>
            <a:off x="1888744" y="426720"/>
            <a:ext cx="7781544" cy="1178561"/>
          </a:xfrm>
        </p:spPr>
        <p:txBody>
          <a:bodyPr>
            <a:no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Infrastructure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vs</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Student</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Performance</a:t>
            </a:r>
          </a:p>
        </p:txBody>
      </p:sp>
    </p:spTree>
    <p:extLst>
      <p:ext uri="{BB962C8B-B14F-4D97-AF65-F5344CB8AC3E}">
        <p14:creationId xmlns:p14="http://schemas.microsoft.com/office/powerpoint/2010/main" val="719701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0C9DE2-8A22-9D8C-67F1-8406153D0CED}"/>
              </a:ext>
            </a:extLst>
          </p:cNvPr>
          <p:cNvSpPr>
            <a:spLocks noGrp="1"/>
          </p:cNvSpPr>
          <p:nvPr>
            <p:ph type="body" idx="1"/>
          </p:nvPr>
        </p:nvSpPr>
        <p:spPr>
          <a:xfrm>
            <a:off x="618490" y="2174240"/>
            <a:ext cx="7781544" cy="326136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Student attendance data was analyzed to evaluate class participation levels.</a:t>
            </a:r>
          </a:p>
          <a:p>
            <a:pPr marL="285750" indent="-285750">
              <a:buFont typeface="Wingdings" panose="05000000000000000000" pitchFamily="2" charset="2"/>
              <a:buChar char="Ø"/>
            </a:pPr>
            <a:r>
              <a:rPr lang="en-US" sz="1800" dirty="0">
                <a:latin typeface="Arial" panose="020B0604020202020204" pitchFamily="34" charset="0"/>
              </a:rPr>
              <a:t>Attendance percentages indicate how frequently students attend school.</a:t>
            </a:r>
          </a:p>
          <a:p>
            <a:pPr marL="285750" indent="-285750">
              <a:buFont typeface="Wingdings" panose="05000000000000000000" pitchFamily="2" charset="2"/>
              <a:buChar char="Ø"/>
            </a:pPr>
            <a:r>
              <a:rPr lang="en-US" sz="1800" dirty="0">
                <a:latin typeface="Arial" panose="020B0604020202020204" pitchFamily="34" charset="0"/>
              </a:rPr>
              <a:t>Students were grouped into categories such as high attendance, medium attendance, and low attendance. </a:t>
            </a:r>
          </a:p>
          <a:p>
            <a:pPr marL="285750" indent="-285750">
              <a:buFont typeface="Wingdings" panose="05000000000000000000" pitchFamily="2" charset="2"/>
              <a:buChar char="Ø"/>
            </a:pPr>
            <a:r>
              <a:rPr lang="en-US" sz="1800" dirty="0">
                <a:latin typeface="Arial" panose="020B0604020202020204" pitchFamily="34" charset="0"/>
              </a:rPr>
              <a:t>This allows comparison of academic outcomes across attendance levels.</a:t>
            </a:r>
          </a:p>
        </p:txBody>
      </p:sp>
      <p:sp>
        <p:nvSpPr>
          <p:cNvPr id="3" name="Slide Number Placeholder 2">
            <a:extLst>
              <a:ext uri="{FF2B5EF4-FFF2-40B4-BE49-F238E27FC236}">
                <a16:creationId xmlns:a16="http://schemas.microsoft.com/office/drawing/2014/main" id="{113A040E-BF27-447C-1839-A2938878E64D}"/>
              </a:ext>
            </a:extLst>
          </p:cNvPr>
          <p:cNvSpPr>
            <a:spLocks noGrp="1"/>
          </p:cNvSpPr>
          <p:nvPr>
            <p:ph type="sldNum" sz="quarter" idx="12"/>
          </p:nvPr>
        </p:nvSpPr>
        <p:spPr/>
        <p:txBody>
          <a:bodyPr/>
          <a:lstStyle/>
          <a:p>
            <a:fld id="{C263D6C4-4840-40CC-AC84-17E24B3B7BDE}" type="slidenum">
              <a:rPr lang="en-US" noProof="0" smtClean="0"/>
              <a:pPr/>
              <a:t>19</a:t>
            </a:fld>
            <a:endParaRPr lang="en-US" noProof="0" dirty="0"/>
          </a:p>
        </p:txBody>
      </p:sp>
      <p:sp>
        <p:nvSpPr>
          <p:cNvPr id="4" name="Title 3">
            <a:extLst>
              <a:ext uri="{FF2B5EF4-FFF2-40B4-BE49-F238E27FC236}">
                <a16:creationId xmlns:a16="http://schemas.microsoft.com/office/drawing/2014/main" id="{41E237EC-AE3F-12F8-A3C5-D3D4ADA56843}"/>
              </a:ext>
            </a:extLst>
          </p:cNvPr>
          <p:cNvSpPr>
            <a:spLocks noGrp="1"/>
          </p:cNvSpPr>
          <p:nvPr>
            <p:ph type="title"/>
          </p:nvPr>
        </p:nvSpPr>
        <p:spPr>
          <a:xfrm>
            <a:off x="1746504" y="523241"/>
            <a:ext cx="7781544" cy="614679"/>
          </a:xfrm>
        </p:spPr>
        <p:txBody>
          <a:bodyPr>
            <a:normAutofit fontScale="90000"/>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Attendance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Analysis</a:t>
            </a:r>
          </a:p>
        </p:txBody>
      </p:sp>
    </p:spTree>
    <p:extLst>
      <p:ext uri="{BB962C8B-B14F-4D97-AF65-F5344CB8AC3E}">
        <p14:creationId xmlns:p14="http://schemas.microsoft.com/office/powerpoint/2010/main" val="2559009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99E948-F814-DB73-310A-D6ED3FB388D5}"/>
              </a:ext>
            </a:extLst>
          </p:cNvPr>
          <p:cNvSpPr>
            <a:spLocks noGrp="1"/>
          </p:cNvSpPr>
          <p:nvPr>
            <p:ph type="body" idx="1"/>
          </p:nvPr>
        </p:nvSpPr>
        <p:spPr>
          <a:xfrm>
            <a:off x="589280" y="1991360"/>
            <a:ext cx="7924800" cy="4460240"/>
          </a:xfrm>
        </p:spPr>
        <p:txBody>
          <a:bodyPr>
            <a:normAutofit lnSpcReduction="10000"/>
          </a:bodyPr>
          <a:lstStyle/>
          <a:p>
            <a:r>
              <a:rPr lang="en-US" sz="1800" dirty="0">
                <a:latin typeface="Arial" panose="020B0604020202020204" pitchFamily="34" charset="0"/>
              </a:rPr>
              <a:t>Attendance was analyzed to understand how student participation affects academic performance.</a:t>
            </a:r>
          </a:p>
          <a:p>
            <a:r>
              <a:rPr lang="en-US" sz="1800" dirty="0">
                <a:latin typeface="Arial" panose="020B0604020202020204" pitchFamily="34" charset="0"/>
              </a:rPr>
              <a:t>The analysis shows a </a:t>
            </a:r>
            <a:r>
              <a:rPr lang="en-US" sz="1800" b="1" dirty="0">
                <a:latin typeface="Arial" panose="020B0604020202020204" pitchFamily="34" charset="0"/>
              </a:rPr>
              <a:t>positive relationship between attendance rates and student scores</a:t>
            </a:r>
            <a:r>
              <a:rPr lang="en-US" sz="1800" dirty="0">
                <a:latin typeface="Arial" panose="020B0604020202020204" pitchFamily="34" charset="0"/>
              </a:rPr>
              <a:t>. Students with higher attendance rates tend to achieve slightly higher academic performance compared to those with lower attendance levels.</a:t>
            </a:r>
          </a:p>
          <a:p>
            <a:r>
              <a:rPr lang="en-US" sz="1800" dirty="0">
                <a:latin typeface="Arial" panose="020B0604020202020204" pitchFamily="34" charset="0"/>
              </a:rPr>
              <a:t>Students categorized under </a:t>
            </a:r>
            <a:r>
              <a:rPr lang="en-US" sz="1800" b="1" dirty="0">
                <a:latin typeface="Arial" panose="020B0604020202020204" pitchFamily="34" charset="0"/>
              </a:rPr>
              <a:t>high attendance levels demonstrate the highest average scores</a:t>
            </a:r>
            <a:r>
              <a:rPr lang="en-US" sz="1800" dirty="0">
                <a:latin typeface="Arial" panose="020B0604020202020204" pitchFamily="34" charset="0"/>
              </a:rPr>
              <a:t>, while students with lower attendance levels tend to perform worse academically. This trend highlights the importance of consistent classroom participation and engagement in improving student outcomes.</a:t>
            </a:r>
          </a:p>
          <a:p>
            <a:r>
              <a:rPr lang="en-US" sz="1800" dirty="0">
                <a:latin typeface="Arial" panose="020B0604020202020204" pitchFamily="34" charset="0"/>
              </a:rPr>
              <a:t>Regular attendance ensures that students receive continuous exposure to lessons, participate in classroom discussions, and benefit from teacher guidance.</a:t>
            </a:r>
          </a:p>
          <a:p>
            <a:endParaRPr lang="en-US" dirty="0"/>
          </a:p>
        </p:txBody>
      </p:sp>
      <p:sp>
        <p:nvSpPr>
          <p:cNvPr id="3" name="Slide Number Placeholder 2">
            <a:extLst>
              <a:ext uri="{FF2B5EF4-FFF2-40B4-BE49-F238E27FC236}">
                <a16:creationId xmlns:a16="http://schemas.microsoft.com/office/drawing/2014/main" id="{7CF21860-200D-B961-CCE0-40D78080C260}"/>
              </a:ext>
            </a:extLst>
          </p:cNvPr>
          <p:cNvSpPr>
            <a:spLocks noGrp="1"/>
          </p:cNvSpPr>
          <p:nvPr>
            <p:ph type="sldNum" sz="quarter" idx="12"/>
          </p:nvPr>
        </p:nvSpPr>
        <p:spPr/>
        <p:txBody>
          <a:bodyPr/>
          <a:lstStyle/>
          <a:p>
            <a:fld id="{C263D6C4-4840-40CC-AC84-17E24B3B7BDE}" type="slidenum">
              <a:rPr lang="en-US" noProof="0" smtClean="0"/>
              <a:pPr/>
              <a:t>20</a:t>
            </a:fld>
            <a:endParaRPr lang="en-US" noProof="0" dirty="0"/>
          </a:p>
        </p:txBody>
      </p:sp>
      <p:sp>
        <p:nvSpPr>
          <p:cNvPr id="4" name="Title 3">
            <a:extLst>
              <a:ext uri="{FF2B5EF4-FFF2-40B4-BE49-F238E27FC236}">
                <a16:creationId xmlns:a16="http://schemas.microsoft.com/office/drawing/2014/main" id="{23B2D2BF-F3CE-6F3F-B6AE-552C8133D0A3}"/>
              </a:ext>
            </a:extLst>
          </p:cNvPr>
          <p:cNvSpPr>
            <a:spLocks noGrp="1"/>
          </p:cNvSpPr>
          <p:nvPr>
            <p:ph type="title"/>
          </p:nvPr>
        </p:nvSpPr>
        <p:spPr>
          <a:xfrm>
            <a:off x="1502664" y="589280"/>
            <a:ext cx="7781544" cy="1097281"/>
          </a:xfrm>
        </p:spPr>
        <p:txBody>
          <a:bodyPr>
            <a:no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Attendance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and</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Academic</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Performance</a:t>
            </a:r>
          </a:p>
        </p:txBody>
      </p:sp>
    </p:spTree>
    <p:extLst>
      <p:ext uri="{BB962C8B-B14F-4D97-AF65-F5344CB8AC3E}">
        <p14:creationId xmlns:p14="http://schemas.microsoft.com/office/powerpoint/2010/main" val="2349097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E6D6C7-42F7-8787-C327-8B068D0BB1DE}"/>
              </a:ext>
            </a:extLst>
          </p:cNvPr>
          <p:cNvSpPr>
            <a:spLocks noGrp="1"/>
          </p:cNvSpPr>
          <p:nvPr>
            <p:ph type="body" idx="1"/>
          </p:nvPr>
        </p:nvSpPr>
        <p:spPr>
          <a:xfrm>
            <a:off x="902970" y="2590800"/>
            <a:ext cx="7407910" cy="311912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Analysis indicates a positive relationship between attendance and academic performance.</a:t>
            </a:r>
          </a:p>
          <a:p>
            <a:pPr marL="285750" indent="-285750">
              <a:buFont typeface="Wingdings" panose="05000000000000000000" pitchFamily="2" charset="2"/>
              <a:buChar char="Ø"/>
            </a:pPr>
            <a:r>
              <a:rPr lang="en-US" sz="1800" dirty="0">
                <a:latin typeface="Arial" panose="020B0604020202020204" pitchFamily="34" charset="0"/>
              </a:rPr>
              <a:t>Students who attend classes more frequently tend to achieve slightly higher scores.</a:t>
            </a:r>
          </a:p>
          <a:p>
            <a:pPr marL="285750" indent="-285750">
              <a:buFont typeface="Wingdings" panose="05000000000000000000" pitchFamily="2" charset="2"/>
              <a:buChar char="Ø"/>
            </a:pPr>
            <a:r>
              <a:rPr lang="en-US" sz="1800" dirty="0">
                <a:latin typeface="Arial" panose="020B0604020202020204" pitchFamily="34" charset="0"/>
              </a:rPr>
              <a:t>Regular classroom participation improves learning opportunities.</a:t>
            </a:r>
          </a:p>
          <a:p>
            <a:pPr marL="285750" indent="-285750">
              <a:buFont typeface="Wingdings" panose="05000000000000000000" pitchFamily="2" charset="2"/>
              <a:buChar char="Ø"/>
            </a:pPr>
            <a:r>
              <a:rPr lang="en-US" sz="1800" dirty="0">
                <a:latin typeface="Arial" panose="020B0604020202020204" pitchFamily="34" charset="0"/>
              </a:rPr>
              <a:t>This highlights the importance of maintaining consistent attendance.</a:t>
            </a:r>
          </a:p>
        </p:txBody>
      </p:sp>
      <p:sp>
        <p:nvSpPr>
          <p:cNvPr id="3" name="Slide Number Placeholder 2">
            <a:extLst>
              <a:ext uri="{FF2B5EF4-FFF2-40B4-BE49-F238E27FC236}">
                <a16:creationId xmlns:a16="http://schemas.microsoft.com/office/drawing/2014/main" id="{8A9CDB3E-B9DD-4659-8C54-86E0E568D109}"/>
              </a:ext>
            </a:extLst>
          </p:cNvPr>
          <p:cNvSpPr>
            <a:spLocks noGrp="1"/>
          </p:cNvSpPr>
          <p:nvPr>
            <p:ph type="sldNum" sz="quarter" idx="12"/>
          </p:nvPr>
        </p:nvSpPr>
        <p:spPr/>
        <p:txBody>
          <a:bodyPr/>
          <a:lstStyle/>
          <a:p>
            <a:fld id="{C263D6C4-4840-40CC-AC84-17E24B3B7BDE}" type="slidenum">
              <a:rPr lang="en-US" noProof="0" smtClean="0"/>
              <a:pPr/>
              <a:t>21</a:t>
            </a:fld>
            <a:endParaRPr lang="en-US" noProof="0" dirty="0"/>
          </a:p>
        </p:txBody>
      </p:sp>
      <p:sp>
        <p:nvSpPr>
          <p:cNvPr id="4" name="Title 3">
            <a:extLst>
              <a:ext uri="{FF2B5EF4-FFF2-40B4-BE49-F238E27FC236}">
                <a16:creationId xmlns:a16="http://schemas.microsoft.com/office/drawing/2014/main" id="{B0B552F3-9C73-2836-4D8C-6DF50FCF9F6D}"/>
              </a:ext>
            </a:extLst>
          </p:cNvPr>
          <p:cNvSpPr>
            <a:spLocks noGrp="1"/>
          </p:cNvSpPr>
          <p:nvPr>
            <p:ph type="title"/>
          </p:nvPr>
        </p:nvSpPr>
        <p:spPr>
          <a:xfrm>
            <a:off x="1756664" y="365761"/>
            <a:ext cx="7781544" cy="1214922"/>
          </a:xfrm>
        </p:spPr>
        <p:txBody>
          <a:bodyPr>
            <a:no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Attendance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vs</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Student</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Performance</a:t>
            </a:r>
          </a:p>
        </p:txBody>
      </p:sp>
    </p:spTree>
    <p:extLst>
      <p:ext uri="{BB962C8B-B14F-4D97-AF65-F5344CB8AC3E}">
        <p14:creationId xmlns:p14="http://schemas.microsoft.com/office/powerpoint/2010/main" val="438135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3D5702-9C25-E97F-6D10-8BB3BD4F1574}"/>
              </a:ext>
            </a:extLst>
          </p:cNvPr>
          <p:cNvSpPr>
            <a:spLocks noGrp="1"/>
          </p:cNvSpPr>
          <p:nvPr>
            <p:ph type="body" idx="1"/>
          </p:nvPr>
        </p:nvSpPr>
        <p:spPr>
          <a:xfrm>
            <a:off x="455930" y="1737359"/>
            <a:ext cx="8119110" cy="4577715"/>
          </a:xfrm>
        </p:spPr>
        <p:txBody>
          <a:bodyPr>
            <a:normAutofit/>
          </a:bodyPr>
          <a:lstStyle/>
          <a:p>
            <a:r>
              <a:rPr lang="en-US" sz="1700" dirty="0">
                <a:latin typeface="Arial" panose="020B0604020202020204" pitchFamily="34" charset="0"/>
              </a:rPr>
              <a:t>Socio-economic background also plays a role in influencing student performance. The analysis focused on two main variables: </a:t>
            </a:r>
            <a:r>
              <a:rPr lang="en-US" sz="1700" b="1" dirty="0">
                <a:latin typeface="Arial" panose="020B0604020202020204" pitchFamily="34" charset="0"/>
              </a:rPr>
              <a:t>family income levels and parental education levels</a:t>
            </a:r>
            <a:r>
              <a:rPr lang="en-US" sz="1700" dirty="0">
                <a:latin typeface="Arial" panose="020B0604020202020204" pitchFamily="34" charset="0"/>
              </a:rPr>
              <a:t>.</a:t>
            </a:r>
          </a:p>
          <a:p>
            <a:r>
              <a:rPr lang="en-US" sz="1700" dirty="0">
                <a:latin typeface="Arial" panose="020B0604020202020204" pitchFamily="34" charset="0"/>
              </a:rPr>
              <a:t>Students whose parents have higher education levels generally show slightly better academic performance. This may be because educated parents are more likely to provide academic guidance, learning support, and encouragement at home.</a:t>
            </a:r>
          </a:p>
          <a:p>
            <a:r>
              <a:rPr lang="en-US" sz="1700" dirty="0">
                <a:latin typeface="Arial" panose="020B0604020202020204" pitchFamily="34" charset="0"/>
              </a:rPr>
              <a:t>Similarly, students from higher income families tend to show marginally higher average scores. Families with greater financial resources may have access to additional educational materials, tutoring, and learning opportunities.</a:t>
            </a:r>
          </a:p>
          <a:p>
            <a:r>
              <a:rPr lang="en-US" sz="1700" dirty="0">
                <a:latin typeface="Arial" panose="020B0604020202020204" pitchFamily="34" charset="0"/>
              </a:rPr>
              <a:t>However, the differences in performance across socio-economic groups are not extremely large, indicating that while socio-economic factors influence outcomes, they are not the sole determinant of academic success.</a:t>
            </a:r>
          </a:p>
          <a:p>
            <a:endParaRPr lang="en-US" dirty="0"/>
          </a:p>
        </p:txBody>
      </p:sp>
      <p:sp>
        <p:nvSpPr>
          <p:cNvPr id="3" name="Slide Number Placeholder 2">
            <a:extLst>
              <a:ext uri="{FF2B5EF4-FFF2-40B4-BE49-F238E27FC236}">
                <a16:creationId xmlns:a16="http://schemas.microsoft.com/office/drawing/2014/main" id="{19BF6B3D-C57E-F93B-3203-86645340A4C8}"/>
              </a:ext>
            </a:extLst>
          </p:cNvPr>
          <p:cNvSpPr>
            <a:spLocks noGrp="1"/>
          </p:cNvSpPr>
          <p:nvPr>
            <p:ph type="sldNum" sz="quarter" idx="12"/>
          </p:nvPr>
        </p:nvSpPr>
        <p:spPr/>
        <p:txBody>
          <a:bodyPr/>
          <a:lstStyle/>
          <a:p>
            <a:fld id="{C263D6C4-4840-40CC-AC84-17E24B3B7BDE}" type="slidenum">
              <a:rPr lang="en-US" noProof="0" smtClean="0"/>
              <a:pPr/>
              <a:t>22</a:t>
            </a:fld>
            <a:endParaRPr lang="en-US" noProof="0" dirty="0"/>
          </a:p>
        </p:txBody>
      </p:sp>
      <p:sp>
        <p:nvSpPr>
          <p:cNvPr id="4" name="Title 3">
            <a:extLst>
              <a:ext uri="{FF2B5EF4-FFF2-40B4-BE49-F238E27FC236}">
                <a16:creationId xmlns:a16="http://schemas.microsoft.com/office/drawing/2014/main" id="{35BDB408-3752-8EFB-C5DD-71D598B9959C}"/>
              </a:ext>
            </a:extLst>
          </p:cNvPr>
          <p:cNvSpPr>
            <a:spLocks noGrp="1"/>
          </p:cNvSpPr>
          <p:nvPr>
            <p:ph type="title"/>
          </p:nvPr>
        </p:nvSpPr>
        <p:spPr>
          <a:xfrm>
            <a:off x="1614424" y="538480"/>
            <a:ext cx="7781544" cy="671095"/>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Socio-Economic</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Factors</a:t>
            </a:r>
          </a:p>
        </p:txBody>
      </p:sp>
    </p:spTree>
    <p:extLst>
      <p:ext uri="{BB962C8B-B14F-4D97-AF65-F5344CB8AC3E}">
        <p14:creationId xmlns:p14="http://schemas.microsoft.com/office/powerpoint/2010/main" val="613070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FDC49F-E969-335B-3389-534FA2BF154E}"/>
              </a:ext>
            </a:extLst>
          </p:cNvPr>
          <p:cNvSpPr>
            <a:spLocks noGrp="1"/>
          </p:cNvSpPr>
          <p:nvPr>
            <p:ph type="body" idx="1"/>
          </p:nvPr>
        </p:nvSpPr>
        <p:spPr>
          <a:xfrm>
            <a:off x="788924" y="2397760"/>
            <a:ext cx="7641590" cy="297688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Students were grouped according to the education level of their parents.</a:t>
            </a:r>
          </a:p>
          <a:p>
            <a:pPr marL="285750" indent="-285750">
              <a:buFont typeface="Wingdings" panose="05000000000000000000" pitchFamily="2" charset="2"/>
              <a:buChar char="Ø"/>
            </a:pPr>
            <a:r>
              <a:rPr lang="en-US" sz="1800" dirty="0">
                <a:latin typeface="Arial" panose="020B0604020202020204" pitchFamily="34" charset="0"/>
              </a:rPr>
              <a:t>The analysis suggests that students whose parents have higher education levels perform slightly better academically.</a:t>
            </a:r>
          </a:p>
          <a:p>
            <a:pPr marL="285750" indent="-285750">
              <a:buFont typeface="Wingdings" panose="05000000000000000000" pitchFamily="2" charset="2"/>
              <a:buChar char="Ø"/>
            </a:pPr>
            <a:r>
              <a:rPr lang="en-US" sz="1800" dirty="0">
                <a:latin typeface="Arial" panose="020B0604020202020204" pitchFamily="34" charset="0"/>
              </a:rPr>
              <a:t>This may reflect additional academic support at home and stronger learning environments.</a:t>
            </a:r>
          </a:p>
          <a:p>
            <a:pPr marL="285750" indent="-285750">
              <a:buFont typeface="Wingdings" panose="05000000000000000000" pitchFamily="2" charset="2"/>
              <a:buChar char="Ø"/>
            </a:pPr>
            <a:r>
              <a:rPr lang="en-US" sz="1800" dirty="0">
                <a:latin typeface="Arial" panose="020B0604020202020204" pitchFamily="34" charset="0"/>
              </a:rPr>
              <a:t>Parental education can influence student motivation and study habits.</a:t>
            </a:r>
          </a:p>
        </p:txBody>
      </p:sp>
      <p:sp>
        <p:nvSpPr>
          <p:cNvPr id="3" name="Slide Number Placeholder 2">
            <a:extLst>
              <a:ext uri="{FF2B5EF4-FFF2-40B4-BE49-F238E27FC236}">
                <a16:creationId xmlns:a16="http://schemas.microsoft.com/office/drawing/2014/main" id="{D7281725-AF4C-C7A0-187F-AA8C80AA0470}"/>
              </a:ext>
            </a:extLst>
          </p:cNvPr>
          <p:cNvSpPr>
            <a:spLocks noGrp="1"/>
          </p:cNvSpPr>
          <p:nvPr>
            <p:ph type="sldNum" sz="quarter" idx="12"/>
          </p:nvPr>
        </p:nvSpPr>
        <p:spPr/>
        <p:txBody>
          <a:bodyPr/>
          <a:lstStyle/>
          <a:p>
            <a:fld id="{C263D6C4-4840-40CC-AC84-17E24B3B7BDE}" type="slidenum">
              <a:rPr lang="en-US" noProof="0" smtClean="0"/>
              <a:pPr/>
              <a:t>23</a:t>
            </a:fld>
            <a:endParaRPr lang="en-US" noProof="0" dirty="0"/>
          </a:p>
        </p:txBody>
      </p:sp>
      <p:sp>
        <p:nvSpPr>
          <p:cNvPr id="4" name="Title 3">
            <a:extLst>
              <a:ext uri="{FF2B5EF4-FFF2-40B4-BE49-F238E27FC236}">
                <a16:creationId xmlns:a16="http://schemas.microsoft.com/office/drawing/2014/main" id="{DDB5F614-C362-6E24-6AB5-3604A910BCD3}"/>
              </a:ext>
            </a:extLst>
          </p:cNvPr>
          <p:cNvSpPr>
            <a:spLocks noGrp="1"/>
          </p:cNvSpPr>
          <p:nvPr>
            <p:ph type="title"/>
          </p:nvPr>
        </p:nvSpPr>
        <p:spPr>
          <a:xfrm>
            <a:off x="1837944" y="568961"/>
            <a:ext cx="7781544" cy="660399"/>
          </a:xfrm>
        </p:spPr>
        <p:txBody>
          <a:bodyPr>
            <a:normAutofit fontScale="90000"/>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Parent</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Education</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vs</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Performance</a:t>
            </a:r>
          </a:p>
        </p:txBody>
      </p:sp>
    </p:spTree>
    <p:extLst>
      <p:ext uri="{BB962C8B-B14F-4D97-AF65-F5344CB8AC3E}">
        <p14:creationId xmlns:p14="http://schemas.microsoft.com/office/powerpoint/2010/main" val="1338916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781D8-1DC6-DC1F-3D09-5EB4C5B7F0C7}"/>
              </a:ext>
            </a:extLst>
          </p:cNvPr>
          <p:cNvSpPr>
            <a:spLocks noGrp="1"/>
          </p:cNvSpPr>
          <p:nvPr>
            <p:ph type="body" idx="1"/>
          </p:nvPr>
        </p:nvSpPr>
        <p:spPr>
          <a:xfrm>
            <a:off x="699770" y="2387600"/>
            <a:ext cx="7560310" cy="2966720"/>
          </a:xfrm>
        </p:spPr>
        <p:txBody>
          <a:bodyPr>
            <a:normAutofit/>
          </a:bodyPr>
          <a:lstStyle/>
          <a:p>
            <a:pPr marL="285750" indent="-285750">
              <a:buFont typeface="Wingdings" panose="05000000000000000000" pitchFamily="2" charset="2"/>
              <a:buChar char="Ø"/>
            </a:pPr>
            <a:r>
              <a:rPr lang="en-US" sz="1800" dirty="0">
                <a:latin typeface="Arial" panose="020B0604020202020204" pitchFamily="34" charset="0"/>
              </a:rPr>
              <a:t>Student scores were compared across different income groups.</a:t>
            </a:r>
          </a:p>
          <a:p>
            <a:pPr marL="285750" indent="-285750">
              <a:buFont typeface="Wingdings" panose="05000000000000000000" pitchFamily="2" charset="2"/>
              <a:buChar char="Ø"/>
            </a:pPr>
            <a:r>
              <a:rPr lang="en-US" sz="1800" dirty="0">
                <a:latin typeface="Arial" panose="020B0604020202020204" pitchFamily="34" charset="0"/>
              </a:rPr>
              <a:t>Students from higher income families tend to show slightly higher average scores.</a:t>
            </a:r>
          </a:p>
          <a:p>
            <a:pPr marL="285750" indent="-285750">
              <a:buFont typeface="Wingdings" panose="05000000000000000000" pitchFamily="2" charset="2"/>
              <a:buChar char="Ø"/>
            </a:pPr>
            <a:r>
              <a:rPr lang="en-US" sz="1800" dirty="0">
                <a:latin typeface="Arial" panose="020B0604020202020204" pitchFamily="34" charset="0"/>
              </a:rPr>
              <a:t>However, the differences are not extremely large.</a:t>
            </a:r>
          </a:p>
          <a:p>
            <a:pPr marL="285750" indent="-285750">
              <a:buFont typeface="Wingdings" panose="05000000000000000000" pitchFamily="2" charset="2"/>
              <a:buChar char="Ø"/>
            </a:pPr>
            <a:r>
              <a:rPr lang="en-US" sz="1800" dirty="0">
                <a:latin typeface="Arial" panose="020B0604020202020204" pitchFamily="34" charset="0"/>
              </a:rPr>
              <a:t>This indicates that income plays a role but is not the sole determinant of academic success.</a:t>
            </a:r>
          </a:p>
        </p:txBody>
      </p:sp>
      <p:sp>
        <p:nvSpPr>
          <p:cNvPr id="3" name="Slide Number Placeholder 2">
            <a:extLst>
              <a:ext uri="{FF2B5EF4-FFF2-40B4-BE49-F238E27FC236}">
                <a16:creationId xmlns:a16="http://schemas.microsoft.com/office/drawing/2014/main" id="{4CEB5F1F-3F44-21D2-E8D6-5573C2D174DF}"/>
              </a:ext>
            </a:extLst>
          </p:cNvPr>
          <p:cNvSpPr>
            <a:spLocks noGrp="1"/>
          </p:cNvSpPr>
          <p:nvPr>
            <p:ph type="sldNum" sz="quarter" idx="12"/>
          </p:nvPr>
        </p:nvSpPr>
        <p:spPr/>
        <p:txBody>
          <a:bodyPr/>
          <a:lstStyle/>
          <a:p>
            <a:fld id="{C263D6C4-4840-40CC-AC84-17E24B3B7BDE}" type="slidenum">
              <a:rPr lang="en-US" noProof="0" smtClean="0"/>
              <a:pPr/>
              <a:t>24</a:t>
            </a:fld>
            <a:endParaRPr lang="en-US" noProof="0" dirty="0"/>
          </a:p>
        </p:txBody>
      </p:sp>
      <p:sp>
        <p:nvSpPr>
          <p:cNvPr id="4" name="Title 3">
            <a:extLst>
              <a:ext uri="{FF2B5EF4-FFF2-40B4-BE49-F238E27FC236}">
                <a16:creationId xmlns:a16="http://schemas.microsoft.com/office/drawing/2014/main" id="{06DF9E57-4B0C-3F91-1797-D14AF8B5716B}"/>
              </a:ext>
            </a:extLst>
          </p:cNvPr>
          <p:cNvSpPr>
            <a:spLocks noGrp="1"/>
          </p:cNvSpPr>
          <p:nvPr>
            <p:ph type="title"/>
          </p:nvPr>
        </p:nvSpPr>
        <p:spPr>
          <a:xfrm>
            <a:off x="2091944" y="541021"/>
            <a:ext cx="7781544" cy="708659"/>
          </a:xfrm>
        </p:spPr>
        <p:txBody>
          <a:bodyPr>
            <a:no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Family</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Income</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vs</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Performance</a:t>
            </a:r>
          </a:p>
        </p:txBody>
      </p:sp>
    </p:spTree>
    <p:extLst>
      <p:ext uri="{BB962C8B-B14F-4D97-AF65-F5344CB8AC3E}">
        <p14:creationId xmlns:p14="http://schemas.microsoft.com/office/powerpoint/2010/main" val="639073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951D74-5F87-6ECD-7AF9-65A9BE65D9C3}"/>
              </a:ext>
            </a:extLst>
          </p:cNvPr>
          <p:cNvSpPr>
            <a:spLocks noGrp="1"/>
          </p:cNvSpPr>
          <p:nvPr>
            <p:ph type="body" idx="1"/>
          </p:nvPr>
        </p:nvSpPr>
        <p:spPr>
          <a:xfrm>
            <a:off x="628650" y="1788159"/>
            <a:ext cx="7875270" cy="4635499"/>
          </a:xfrm>
        </p:spPr>
        <p:txBody>
          <a:bodyPr>
            <a:normAutofit lnSpcReduction="10000"/>
          </a:bodyPr>
          <a:lstStyle/>
          <a:p>
            <a:r>
              <a:rPr lang="en-US" sz="1800" dirty="0">
                <a:latin typeface="Arial" panose="020B0604020202020204" pitchFamily="34" charset="0"/>
              </a:rPr>
              <a:t>The combined analysis across all dashboards reveals several key trends:</a:t>
            </a:r>
          </a:p>
          <a:p>
            <a:pPr marL="285750" indent="-285750">
              <a:buFont typeface="Wingdings" panose="05000000000000000000" pitchFamily="2" charset="2"/>
              <a:buChar char="Ø"/>
            </a:pPr>
            <a:r>
              <a:rPr lang="en-US" sz="1800" dirty="0">
                <a:latin typeface="Arial" panose="020B0604020202020204" pitchFamily="34" charset="0"/>
              </a:rPr>
              <a:t>Most students demonstrate </a:t>
            </a:r>
            <a:r>
              <a:rPr lang="en-US" sz="1800" b="1" dirty="0">
                <a:latin typeface="Arial" panose="020B0604020202020204" pitchFamily="34" charset="0"/>
              </a:rPr>
              <a:t>moderate academic performance</a:t>
            </a:r>
            <a:r>
              <a:rPr lang="en-US" sz="1800" dirty="0">
                <a:latin typeface="Arial" panose="020B0604020202020204" pitchFamily="34" charset="0"/>
              </a:rPr>
              <a:t> within the 60–80 score range.</a:t>
            </a:r>
          </a:p>
          <a:p>
            <a:pPr marL="285750" indent="-285750">
              <a:buFont typeface="Wingdings" panose="05000000000000000000" pitchFamily="2" charset="2"/>
              <a:buChar char="Ø"/>
            </a:pPr>
            <a:r>
              <a:rPr lang="en-US" sz="1800" b="1" dirty="0">
                <a:latin typeface="Arial" panose="020B0604020202020204" pitchFamily="34" charset="0"/>
              </a:rPr>
              <a:t>Student attendance shows the strongest relationship with academic performance.</a:t>
            </a:r>
            <a:endParaRPr lang="en-US" sz="1800" dirty="0">
              <a:latin typeface="Arial" panose="020B0604020202020204" pitchFamily="34" charset="0"/>
            </a:endParaRPr>
          </a:p>
          <a:p>
            <a:pPr marL="285750" indent="-285750">
              <a:buFont typeface="Wingdings" panose="05000000000000000000" pitchFamily="2" charset="2"/>
              <a:buChar char="Ø"/>
            </a:pPr>
            <a:r>
              <a:rPr lang="en-US" sz="1800" dirty="0">
                <a:latin typeface="Arial" panose="020B0604020202020204" pitchFamily="34" charset="0"/>
              </a:rPr>
              <a:t>School infrastructure provides supportive learning environments and contributes to improved outcomes.</a:t>
            </a:r>
          </a:p>
          <a:p>
            <a:pPr marL="285750" indent="-285750">
              <a:buFont typeface="Wingdings" panose="05000000000000000000" pitchFamily="2" charset="2"/>
              <a:buChar char="Ø"/>
            </a:pPr>
            <a:r>
              <a:rPr lang="en-US" sz="1800" dirty="0">
                <a:latin typeface="Arial" panose="020B0604020202020204" pitchFamily="34" charset="0"/>
              </a:rPr>
              <a:t>Socio-economic background has a noticeable but moderate impact on student performance.</a:t>
            </a:r>
          </a:p>
          <a:p>
            <a:pPr marL="285750" indent="-285750">
              <a:buFont typeface="Wingdings" panose="05000000000000000000" pitchFamily="2" charset="2"/>
              <a:buChar char="Ø"/>
            </a:pPr>
            <a:r>
              <a:rPr lang="en-US" sz="1800" dirty="0">
                <a:latin typeface="Arial" panose="020B0604020202020204" pitchFamily="34" charset="0"/>
              </a:rPr>
              <a:t>The teaching workforce is generally experienced and well qualified, which supports the educational system.</a:t>
            </a:r>
          </a:p>
          <a:p>
            <a:r>
              <a:rPr lang="en-US" sz="1800" dirty="0">
                <a:latin typeface="Arial" panose="020B0604020202020204" pitchFamily="34" charset="0"/>
              </a:rPr>
              <a:t>These findings suggest that student performance is influenced by </a:t>
            </a:r>
            <a:r>
              <a:rPr lang="en-US" sz="1800" b="1" dirty="0">
                <a:latin typeface="Arial" panose="020B0604020202020204" pitchFamily="34" charset="0"/>
              </a:rPr>
              <a:t>multiple interconnected factors rather than a single variable</a:t>
            </a:r>
            <a:r>
              <a:rPr lang="en-US" sz="1800" dirty="0">
                <a:latin typeface="Arial" panose="020B0604020202020204" pitchFamily="34" charset="0"/>
              </a:rPr>
              <a:t>.</a:t>
            </a:r>
          </a:p>
          <a:p>
            <a:endParaRPr lang="en-US" dirty="0"/>
          </a:p>
        </p:txBody>
      </p:sp>
      <p:sp>
        <p:nvSpPr>
          <p:cNvPr id="3" name="Slide Number Placeholder 2">
            <a:extLst>
              <a:ext uri="{FF2B5EF4-FFF2-40B4-BE49-F238E27FC236}">
                <a16:creationId xmlns:a16="http://schemas.microsoft.com/office/drawing/2014/main" id="{CDD57A23-D164-4C94-B44E-B338F49D1685}"/>
              </a:ext>
            </a:extLst>
          </p:cNvPr>
          <p:cNvSpPr>
            <a:spLocks noGrp="1"/>
          </p:cNvSpPr>
          <p:nvPr>
            <p:ph type="sldNum" sz="quarter" idx="12"/>
          </p:nvPr>
        </p:nvSpPr>
        <p:spPr/>
        <p:txBody>
          <a:bodyPr/>
          <a:lstStyle/>
          <a:p>
            <a:fld id="{C263D6C4-4840-40CC-AC84-17E24B3B7BDE}" type="slidenum">
              <a:rPr lang="en-US" noProof="0" smtClean="0"/>
              <a:pPr/>
              <a:t>25</a:t>
            </a:fld>
            <a:endParaRPr lang="en-US" noProof="0" dirty="0"/>
          </a:p>
        </p:txBody>
      </p:sp>
      <p:sp>
        <p:nvSpPr>
          <p:cNvPr id="4" name="Title 3">
            <a:extLst>
              <a:ext uri="{FF2B5EF4-FFF2-40B4-BE49-F238E27FC236}">
                <a16:creationId xmlns:a16="http://schemas.microsoft.com/office/drawing/2014/main" id="{21B4476C-840E-2991-1601-0A50C890F98D}"/>
              </a:ext>
            </a:extLst>
          </p:cNvPr>
          <p:cNvSpPr>
            <a:spLocks noGrp="1"/>
          </p:cNvSpPr>
          <p:nvPr>
            <p:ph type="title"/>
          </p:nvPr>
        </p:nvSpPr>
        <p:spPr>
          <a:xfrm>
            <a:off x="1522984" y="556261"/>
            <a:ext cx="7781544" cy="673099"/>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Key</a:t>
            </a:r>
            <a:r>
              <a:rPr lang="en-US" sz="4000" dirty="0">
                <a:latin typeface="Arial" panose="020B0604020202020204" pitchFamily="34" charset="0"/>
                <a:cs typeface="Arial" panose="020B0604020202020204" pitchFamily="34" charset="0"/>
              </a:rPr>
              <a:t> </a:t>
            </a: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Findings</a:t>
            </a:r>
          </a:p>
        </p:txBody>
      </p:sp>
    </p:spTree>
    <p:extLst>
      <p:ext uri="{BB962C8B-B14F-4D97-AF65-F5344CB8AC3E}">
        <p14:creationId xmlns:p14="http://schemas.microsoft.com/office/powerpoint/2010/main" val="3742718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C854E3-AD6B-EC91-E2B2-4C27490B27AC}"/>
              </a:ext>
            </a:extLst>
          </p:cNvPr>
          <p:cNvSpPr>
            <a:spLocks noGrp="1"/>
          </p:cNvSpPr>
          <p:nvPr>
            <p:ph type="body" idx="1"/>
          </p:nvPr>
        </p:nvSpPr>
        <p:spPr>
          <a:xfrm>
            <a:off x="831850" y="1818640"/>
            <a:ext cx="7570470" cy="4328160"/>
          </a:xfrm>
        </p:spPr>
        <p:txBody>
          <a:bodyPr>
            <a:normAutofit lnSpcReduction="10000"/>
          </a:bodyPr>
          <a:lstStyle/>
          <a:p>
            <a:r>
              <a:rPr lang="en-US" sz="1800" dirty="0">
                <a:latin typeface="Arial" panose="020B0604020202020204" pitchFamily="34" charset="0"/>
              </a:rPr>
              <a:t>Based on the analysis, the following recommendations are suggested to improve educational outcomes:</a:t>
            </a:r>
          </a:p>
          <a:p>
            <a:pPr>
              <a:buFont typeface="+mj-lt"/>
              <a:buAutoNum type="arabicPeriod"/>
            </a:pPr>
            <a:r>
              <a:rPr lang="en-US" sz="1800" dirty="0">
                <a:latin typeface="Arial" panose="020B0604020202020204" pitchFamily="34" charset="0"/>
              </a:rPr>
              <a:t>Encourage regular student attendance through awareness programs and monitoring systems.</a:t>
            </a:r>
          </a:p>
          <a:p>
            <a:pPr>
              <a:buFont typeface="+mj-lt"/>
              <a:buAutoNum type="arabicPeriod"/>
            </a:pPr>
            <a:r>
              <a:rPr lang="en-US" sz="1800" dirty="0">
                <a:latin typeface="Arial" panose="020B0604020202020204" pitchFamily="34" charset="0"/>
              </a:rPr>
              <a:t>Improve school infrastructure by expanding access to internet connectivity and library facilities.</a:t>
            </a:r>
          </a:p>
          <a:p>
            <a:pPr>
              <a:buFont typeface="+mj-lt"/>
              <a:buAutoNum type="arabicPeriod"/>
            </a:pPr>
            <a:r>
              <a:rPr lang="en-US" sz="1800" dirty="0">
                <a:latin typeface="Arial" panose="020B0604020202020204" pitchFamily="34" charset="0"/>
              </a:rPr>
              <a:t>Continue investing in teacher training and professional development programs.</a:t>
            </a:r>
          </a:p>
          <a:p>
            <a:pPr>
              <a:buFont typeface="+mj-lt"/>
              <a:buAutoNum type="arabicPeriod"/>
            </a:pPr>
            <a:r>
              <a:rPr lang="en-US" sz="1800" dirty="0">
                <a:latin typeface="Arial" panose="020B0604020202020204" pitchFamily="34" charset="0"/>
              </a:rPr>
              <a:t>Provide additional academic support and resources to students from disadvantaged socio-economic backgrounds.</a:t>
            </a:r>
          </a:p>
          <a:p>
            <a:pPr>
              <a:buFont typeface="+mj-lt"/>
              <a:buAutoNum type="arabicPeriod"/>
            </a:pPr>
            <a:r>
              <a:rPr lang="en-US" sz="1800" dirty="0">
                <a:latin typeface="Arial" panose="020B0604020202020204" pitchFamily="34" charset="0"/>
              </a:rPr>
              <a:t>Use data analytics tools regularly to monitor educational performance and support data-driven decision making.</a:t>
            </a:r>
          </a:p>
          <a:p>
            <a:endParaRPr lang="en-US" dirty="0"/>
          </a:p>
        </p:txBody>
      </p:sp>
      <p:sp>
        <p:nvSpPr>
          <p:cNvPr id="3" name="Slide Number Placeholder 2">
            <a:extLst>
              <a:ext uri="{FF2B5EF4-FFF2-40B4-BE49-F238E27FC236}">
                <a16:creationId xmlns:a16="http://schemas.microsoft.com/office/drawing/2014/main" id="{6D01EE80-59BC-3EF4-5705-B92D889B8BC9}"/>
              </a:ext>
            </a:extLst>
          </p:cNvPr>
          <p:cNvSpPr>
            <a:spLocks noGrp="1"/>
          </p:cNvSpPr>
          <p:nvPr>
            <p:ph type="sldNum" sz="quarter" idx="12"/>
          </p:nvPr>
        </p:nvSpPr>
        <p:spPr/>
        <p:txBody>
          <a:bodyPr/>
          <a:lstStyle/>
          <a:p>
            <a:fld id="{C263D6C4-4840-40CC-AC84-17E24B3B7BDE}" type="slidenum">
              <a:rPr lang="en-US" noProof="0" smtClean="0"/>
              <a:pPr/>
              <a:t>26</a:t>
            </a:fld>
            <a:endParaRPr lang="en-US" noProof="0" dirty="0"/>
          </a:p>
        </p:txBody>
      </p:sp>
      <p:sp>
        <p:nvSpPr>
          <p:cNvPr id="4" name="Title 3">
            <a:extLst>
              <a:ext uri="{FF2B5EF4-FFF2-40B4-BE49-F238E27FC236}">
                <a16:creationId xmlns:a16="http://schemas.microsoft.com/office/drawing/2014/main" id="{68CE5EB0-CF4A-5706-2342-224D6B886905}"/>
              </a:ext>
            </a:extLst>
          </p:cNvPr>
          <p:cNvSpPr>
            <a:spLocks noGrp="1"/>
          </p:cNvSpPr>
          <p:nvPr>
            <p:ph type="title"/>
          </p:nvPr>
        </p:nvSpPr>
        <p:spPr>
          <a:xfrm>
            <a:off x="1695704" y="523241"/>
            <a:ext cx="7781544" cy="665480"/>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Recommendations</a:t>
            </a:r>
          </a:p>
        </p:txBody>
      </p:sp>
    </p:spTree>
    <p:extLst>
      <p:ext uri="{BB962C8B-B14F-4D97-AF65-F5344CB8AC3E}">
        <p14:creationId xmlns:p14="http://schemas.microsoft.com/office/powerpoint/2010/main" val="1275497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2B6193-3EDC-79C7-2393-78F5D63CFBCC}"/>
              </a:ext>
            </a:extLst>
          </p:cNvPr>
          <p:cNvSpPr>
            <a:spLocks noGrp="1"/>
          </p:cNvSpPr>
          <p:nvPr>
            <p:ph type="body" idx="1"/>
          </p:nvPr>
        </p:nvSpPr>
        <p:spPr>
          <a:xfrm>
            <a:off x="831850" y="2001520"/>
            <a:ext cx="7357110" cy="4043680"/>
          </a:xfrm>
        </p:spPr>
        <p:txBody>
          <a:bodyPr/>
          <a:lstStyle/>
          <a:p>
            <a:r>
              <a:rPr lang="en-US" sz="1800" dirty="0">
                <a:latin typeface="Arial" panose="020B0604020202020204" pitchFamily="34" charset="0"/>
              </a:rPr>
              <a:t>This project demonstrates the importance of using data analytics to understand complex educational systems. By integrating multiple datasets and visualizing patterns through interactive dashboards created in </a:t>
            </a:r>
            <a:r>
              <a:rPr lang="en-US" sz="1800" b="1" dirty="0">
                <a:latin typeface="Arial" panose="020B0604020202020204" pitchFamily="34" charset="0"/>
              </a:rPr>
              <a:t>Microsoft Power BI Desktop</a:t>
            </a:r>
            <a:r>
              <a:rPr lang="en-US" sz="1800" dirty="0">
                <a:latin typeface="Arial" panose="020B0604020202020204" pitchFamily="34" charset="0"/>
              </a:rPr>
              <a:t>, it becomes possible to identify key factors affecting student outcomes.</a:t>
            </a:r>
          </a:p>
          <a:p>
            <a:r>
              <a:rPr lang="en-US" sz="1800" dirty="0">
                <a:latin typeface="Arial" panose="020B0604020202020204" pitchFamily="34" charset="0"/>
              </a:rPr>
              <a:t>The analysis highlights the importance of attendance, infrastructure availability, and socio-economic conditions in shaping academic performance. These insights can help educational institutions and policymakers design targeted strategies to improve learning environments and student success.</a:t>
            </a:r>
          </a:p>
          <a:p>
            <a:endParaRPr lang="en-US" dirty="0"/>
          </a:p>
        </p:txBody>
      </p:sp>
      <p:sp>
        <p:nvSpPr>
          <p:cNvPr id="3" name="Slide Number Placeholder 2">
            <a:extLst>
              <a:ext uri="{FF2B5EF4-FFF2-40B4-BE49-F238E27FC236}">
                <a16:creationId xmlns:a16="http://schemas.microsoft.com/office/drawing/2014/main" id="{1C0952FA-41EA-071D-D0D3-32EFCCF4873C}"/>
              </a:ext>
            </a:extLst>
          </p:cNvPr>
          <p:cNvSpPr>
            <a:spLocks noGrp="1"/>
          </p:cNvSpPr>
          <p:nvPr>
            <p:ph type="sldNum" sz="quarter" idx="12"/>
          </p:nvPr>
        </p:nvSpPr>
        <p:spPr/>
        <p:txBody>
          <a:bodyPr/>
          <a:lstStyle/>
          <a:p>
            <a:fld id="{C263D6C4-4840-40CC-AC84-17E24B3B7BDE}" type="slidenum">
              <a:rPr lang="en-US" noProof="0" smtClean="0"/>
              <a:pPr/>
              <a:t>27</a:t>
            </a:fld>
            <a:endParaRPr lang="en-US" noProof="0" dirty="0"/>
          </a:p>
        </p:txBody>
      </p:sp>
      <p:sp>
        <p:nvSpPr>
          <p:cNvPr id="4" name="Title 3">
            <a:extLst>
              <a:ext uri="{FF2B5EF4-FFF2-40B4-BE49-F238E27FC236}">
                <a16:creationId xmlns:a16="http://schemas.microsoft.com/office/drawing/2014/main" id="{D49E59BA-6EFC-8774-2003-1B67FCCA5DBE}"/>
              </a:ext>
            </a:extLst>
          </p:cNvPr>
          <p:cNvSpPr>
            <a:spLocks noGrp="1"/>
          </p:cNvSpPr>
          <p:nvPr>
            <p:ph type="title"/>
          </p:nvPr>
        </p:nvSpPr>
        <p:spPr>
          <a:xfrm>
            <a:off x="1695704" y="584201"/>
            <a:ext cx="7781544" cy="685799"/>
          </a:xfrm>
        </p:spPr>
        <p:txBody>
          <a:bodyPr>
            <a:normAutofit/>
          </a:bodyPr>
          <a:lstStyle/>
          <a:p>
            <a:pPr algn="ctr"/>
            <a:r>
              <a:rPr lang="en-US" sz="4000" dirty="0">
                <a:solidFill>
                  <a:schemeClr val="accent2"/>
                </a:solidFill>
                <a:latin typeface="Arial" panose="020B0604020202020204" pitchFamily="34" charset="0"/>
                <a:ea typeface="Tahoma" panose="020B0604030504040204" pitchFamily="34" charset="0"/>
                <a:cs typeface="Arial" panose="020B0604020202020204" pitchFamily="34" charset="0"/>
              </a:rPr>
              <a:t>Conclusion</a:t>
            </a:r>
          </a:p>
        </p:txBody>
      </p:sp>
    </p:spTree>
    <p:extLst>
      <p:ext uri="{BB962C8B-B14F-4D97-AF65-F5344CB8AC3E}">
        <p14:creationId xmlns:p14="http://schemas.microsoft.com/office/powerpoint/2010/main" val="1984142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5903042" y="3164840"/>
            <a:ext cx="5151038" cy="1488440"/>
          </a:xfrm>
        </p:spPr>
        <p:txBody>
          <a:bodyPr/>
          <a:lstStyle/>
          <a:p>
            <a:pPr algn="ctr"/>
            <a:r>
              <a:rPr lang="en-US" sz="6000" dirty="0">
                <a:solidFill>
                  <a:schemeClr val="accent2"/>
                </a:solidFill>
                <a:latin typeface="Arial" panose="020B0604020202020204" pitchFamily="34" charset="0"/>
                <a:cs typeface="Arial" panose="020B0604020202020204" pitchFamily="34" charset="0"/>
              </a:rPr>
              <a:t>Thank</a:t>
            </a:r>
            <a:r>
              <a:rPr lang="en-US" sz="6000" dirty="0">
                <a:latin typeface="Arial" panose="020B0604020202020204" pitchFamily="34" charset="0"/>
                <a:cs typeface="Arial" panose="020B0604020202020204" pitchFamily="34" charset="0"/>
              </a:rPr>
              <a:t> </a:t>
            </a:r>
            <a:r>
              <a:rPr lang="en-US" sz="6000" dirty="0">
                <a:solidFill>
                  <a:schemeClr val="accent2"/>
                </a:solidFill>
                <a:latin typeface="Arial" panose="020B0604020202020204" pitchFamily="34" charset="0"/>
                <a:cs typeface="Arial" panose="020B0604020202020204" pitchFamily="34" charset="0"/>
              </a:rPr>
              <a:t>You!</a:t>
            </a:r>
            <a:endParaRPr lang="en-GB" sz="6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187</TotalTime>
  <Words>2372</Words>
  <Application>Microsoft Office PowerPoint</Application>
  <PresentationFormat>Widescreen</PresentationFormat>
  <Paragraphs>173</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Trade Gothic LT Pro</vt:lpstr>
      <vt:lpstr>Trebuchet MS</vt:lpstr>
      <vt:lpstr>Wingdings</vt:lpstr>
      <vt:lpstr>Office Theme</vt:lpstr>
      <vt:lpstr>Educational Improvements Project Problems Statements </vt:lpstr>
      <vt:lpstr>Educational Improvements Data Analysis</vt:lpstr>
      <vt:lpstr>Executive Summary</vt:lpstr>
      <vt:lpstr>Project Background</vt:lpstr>
      <vt:lpstr>Project Objective</vt:lpstr>
      <vt:lpstr>Overview</vt:lpstr>
      <vt:lpstr>Datasets Used</vt:lpstr>
      <vt:lpstr>Data Preparation Process</vt:lpstr>
      <vt:lpstr>Data Modeling</vt:lpstr>
      <vt:lpstr>Student Performance Analysis</vt:lpstr>
      <vt:lpstr>Student Score Distribution Analysis</vt:lpstr>
      <vt:lpstr>Student Performance by State</vt:lpstr>
      <vt:lpstr>Teacher Workforce Analysis</vt:lpstr>
      <vt:lpstr>Teacher Experience Insights</vt:lpstr>
      <vt:lpstr>School Infrastructure Impact</vt:lpstr>
      <vt:lpstr>School Infrastructure Analysis</vt:lpstr>
      <vt:lpstr>School Infrastructure Score</vt:lpstr>
      <vt:lpstr>Infrastructure vs Student Performance</vt:lpstr>
      <vt:lpstr>Attendance Analysis</vt:lpstr>
      <vt:lpstr>Attendance and Academic Performance</vt:lpstr>
      <vt:lpstr>Attendance vs Student Performance</vt:lpstr>
      <vt:lpstr>Socio-Economic Factors</vt:lpstr>
      <vt:lpstr>Parent Education vs Performance</vt:lpstr>
      <vt:lpstr>Family Income vs Performance</vt:lpstr>
      <vt:lpstr>Key Findings</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Educational Improvements Project Problems Statements </dc:title>
  <dc:creator>pc</dc:creator>
  <cp:lastModifiedBy>pc</cp:lastModifiedBy>
  <cp:revision>30</cp:revision>
  <dcterms:created xsi:type="dcterms:W3CDTF">2026-03-12T13:15:09Z</dcterms:created>
  <dcterms:modified xsi:type="dcterms:W3CDTF">2026-03-12T16:22:41Z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